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7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685800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4846320"/>
            <a:ext cx="12024360" cy="2011680"/>
          </a:xfrm>
          <a:prstGeom prst="rect">
            <a:avLst/>
          </a:prstGeom>
          <a:solidFill>
            <a:srgbClr val="1F6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39C12"/>
                </a:solidFill>
              </a:rPr>
              <a:t>TCC — TinyML / MLOps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Pipeline Generico para Deteccao de
Anomalias em Series Temporais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632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8C8E8"/>
                </a:solidFill>
              </a:rPr>
              <a:t>Estudo de caso: dados sismicos  ·  Validacao em ESP32 real  ·  OTA via HTTP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2377440" cy="45720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7947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AUC-PR 0.877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0" y="3794760"/>
            <a:ext cx="2377440" cy="457200"/>
          </a:xfrm>
          <a:prstGeom prst="rect">
            <a:avLst/>
          </a:prstGeom>
          <a:solidFill>
            <a:srgbClr val="1F6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08960" y="37947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15.377 params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0" y="3794760"/>
            <a:ext cx="2377440" cy="4572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0" y="37947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ESP32-D0WD-V3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0" y="3794760"/>
            <a:ext cx="2377440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37947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OTA via HTTP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0749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Engenharia / Ciencia de Dados  · 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5321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0B8D8"/>
                </a:solidFill>
              </a:rPr>
              <a:t>github.com/alvarosamp/TCC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O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8D4EA"/>
                </a:solidFill>
              </a:rPr>
              <a:t>Por que processar na borda?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836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F8C8D"/>
                </a:solidFill>
              </a:rPr>
              <a:t>2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80160"/>
            <a:ext cx="5760720" cy="5120640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280160"/>
            <a:ext cx="5760720" cy="5943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307592"/>
            <a:ext cx="5577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Sem TinyML na borda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0574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0392B"/>
                </a:solidFill>
              </a:rPr>
              <a:t>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0574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1C"/>
                </a:solidFill>
              </a:rPr>
              <a:t>Sensor envia 100% dos dados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8803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0392B"/>
                </a:solidFill>
              </a:rPr>
              <a:t>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880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1C"/>
                </a:solidFill>
              </a:rPr>
              <a:t>Transmissao continua (energia/custo)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7033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0392B"/>
                </a:solidFill>
              </a:rPr>
              <a:t>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7033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1C"/>
                </a:solidFill>
              </a:rPr>
              <a:t>Latencia: dados chegam ao servidor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5262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0392B"/>
                </a:solidFill>
              </a:rPr>
              <a:t>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526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1C"/>
                </a:solidFill>
              </a:rPr>
              <a:t>Infraestrutura cara para escalar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3492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0392B"/>
                </a:solidFill>
              </a:rPr>
              <a:t>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349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1C"/>
                </a:solidFill>
              </a:rPr>
              <a:t>Privacidade: dados brutos expostos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5079" y="1280160"/>
            <a:ext cx="5760720" cy="5120640"/>
          </a:xfrm>
          <a:prstGeom prst="rect">
            <a:avLst/>
          </a:prstGeom>
          <a:solidFill>
            <a:srgbClr val="FFFFFF"/>
          </a:solidFill>
          <a:ln w="2540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5079" y="1280160"/>
            <a:ext cx="5760720" cy="59436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19" y="1307592"/>
            <a:ext cx="5577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Com TinyML na borda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59" y="20574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8B4C"/>
                </a:solidFill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7999" y="20574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1C"/>
                </a:solidFill>
              </a:rPr>
              <a:t>ESP32 decide localmente (20ms/janela)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59" y="28803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8B4C"/>
                </a:solidFill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7999" y="2880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1C"/>
                </a:solidFill>
              </a:rPr>
              <a:t>Transmite apenas quando ha anomalia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59" y="37033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8B4C"/>
                </a:solidFill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7999" y="37033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1C"/>
                </a:solidFill>
              </a:rPr>
              <a:t>Latencia zero — decisao embarcada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59" y="45262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8B4C"/>
                </a:solidFill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7999" y="4526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1C"/>
                </a:solidFill>
              </a:rPr>
              <a:t>Escalavel: logica no dispositivo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59" y="53492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8B4C"/>
                </a:solidFill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7999" y="5349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1C"/>
                </a:solidFill>
              </a:rPr>
              <a:t>Apenas eventos chegam ao servidor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6492240"/>
            <a:ext cx="9418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1F6FAB"/>
                </a:solidFill>
              </a:rPr>
              <a:t>Reducao de transmissao, armazenamento, energia e custo operacional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Arquitetura do Sistema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8D4EA"/>
                </a:solidFill>
              </a:rPr>
              <a:t>Pipeline de ponta a ponta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836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F8C8D"/>
                </a:solidFill>
              </a:rPr>
              <a:t>3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280160"/>
            <a:ext cx="347472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280160"/>
            <a:ext cx="3474720" cy="384048"/>
          </a:xfrm>
          <a:prstGeom prst="rect">
            <a:avLst/>
          </a:prstGeom>
          <a:solidFill>
            <a:srgbClr val="1F6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325880"/>
            <a:ext cx="3291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DADOS &amp; FEATURES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0" y="1280160"/>
            <a:ext cx="420624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23360" y="1280160"/>
            <a:ext cx="4206240" cy="384048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0" y="1325880"/>
            <a:ext cx="40233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MLOPS &amp; MODELOS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03920" y="1280160"/>
            <a:ext cx="347472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503920" y="1280160"/>
            <a:ext cx="3474720" cy="384048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0" y="1325880"/>
            <a:ext cx="3291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BORDA &amp; OTA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874519"/>
            <a:ext cx="3291840" cy="777240"/>
          </a:xfrm>
          <a:prstGeom prst="rect">
            <a:avLst/>
          </a:prstGeom>
          <a:solidFill>
            <a:srgbClr val="1F6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1874519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MiniSEED
(raw)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19072" y="2670048"/>
            <a:ext cx="91440" cy="320040"/>
          </a:xfrm>
          <a:prstGeom prst="rect">
            <a:avLst/>
          </a:prstGeom>
          <a:solidFill>
            <a:srgbClr val="1F6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600200" y="2871216"/>
            <a:ext cx="329184" cy="118872"/>
          </a:xfrm>
          <a:prstGeom prst="rect">
            <a:avLst/>
          </a:prstGeom>
          <a:solidFill>
            <a:srgbClr val="1F6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2971800"/>
            <a:ext cx="3291840" cy="777240"/>
          </a:xfrm>
          <a:prstGeom prst="rect">
            <a:avLst/>
          </a:prstGeom>
          <a:solidFill>
            <a:srgbClr val="1F6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297180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Adapter
Dominio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19072" y="3767328"/>
            <a:ext cx="91440" cy="320040"/>
          </a:xfrm>
          <a:prstGeom prst="rect">
            <a:avLst/>
          </a:prstGeom>
          <a:solidFill>
            <a:srgbClr val="1F6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600200" y="3968496"/>
            <a:ext cx="329184" cy="118872"/>
          </a:xfrm>
          <a:prstGeom prst="rect">
            <a:avLst/>
          </a:prstGeom>
          <a:solidFill>
            <a:srgbClr val="1F6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4069079"/>
            <a:ext cx="3291840" cy="777240"/>
          </a:xfrm>
          <a:prstGeom prst="rect">
            <a:avLst/>
          </a:prstGeom>
          <a:solidFill>
            <a:srgbClr val="1F6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4069079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Dataset NPZ
(contrato)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719072" y="4864608"/>
            <a:ext cx="91440" cy="320040"/>
          </a:xfrm>
          <a:prstGeom prst="rect">
            <a:avLst/>
          </a:prstGeom>
          <a:solidFill>
            <a:srgbClr val="1F6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600200" y="5065776"/>
            <a:ext cx="329184" cy="118872"/>
          </a:xfrm>
          <a:prstGeom prst="rect">
            <a:avLst/>
          </a:prstGeom>
          <a:solidFill>
            <a:srgbClr val="1F6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" y="5166359"/>
            <a:ext cx="3291840" cy="777240"/>
          </a:xfrm>
          <a:prstGeom prst="rect">
            <a:avLst/>
          </a:prstGeom>
          <a:solidFill>
            <a:srgbClr val="1F6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5166359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Features
Tabulares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0" y="1874519"/>
            <a:ext cx="3840480" cy="7772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0" y="1874519"/>
            <a:ext cx="3840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Treino
(MLflow)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79592" y="2670048"/>
            <a:ext cx="91440" cy="320040"/>
          </a:xfrm>
          <a:prstGeom prst="rect">
            <a:avLst/>
          </a:prstGeom>
          <a:solidFill>
            <a:srgbClr val="1F6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760720" y="2871216"/>
            <a:ext cx="329184" cy="118872"/>
          </a:xfrm>
          <a:prstGeom prst="rect">
            <a:avLst/>
          </a:prstGeom>
          <a:solidFill>
            <a:srgbClr val="1F6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114800" y="2971800"/>
            <a:ext cx="3840480" cy="7772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0" y="2971800"/>
            <a:ext cx="3840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HPO
(Optuna)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879592" y="3767328"/>
            <a:ext cx="91440" cy="320040"/>
          </a:xfrm>
          <a:prstGeom prst="rect">
            <a:avLst/>
          </a:prstGeom>
          <a:solidFill>
            <a:srgbClr val="1F6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760720" y="3968496"/>
            <a:ext cx="329184" cy="118872"/>
          </a:xfrm>
          <a:prstGeom prst="rect">
            <a:avLst/>
          </a:prstGeom>
          <a:solidFill>
            <a:srgbClr val="1F6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14800" y="4069079"/>
            <a:ext cx="3840480" cy="77724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0" y="4069079"/>
            <a:ext cx="3840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Quality
Gate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879592" y="4864608"/>
            <a:ext cx="91440" cy="320040"/>
          </a:xfrm>
          <a:prstGeom prst="rect">
            <a:avLst/>
          </a:prstGeom>
          <a:solidFill>
            <a:srgbClr val="1F6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760720" y="5065776"/>
            <a:ext cx="329184" cy="118872"/>
          </a:xfrm>
          <a:prstGeom prst="rect">
            <a:avLst/>
          </a:prstGeom>
          <a:solidFill>
            <a:srgbClr val="1F6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114800" y="5166359"/>
            <a:ext cx="3840480" cy="777240"/>
          </a:xfrm>
          <a:prstGeom prst="rect">
            <a:avLst/>
          </a:prstGeom>
          <a:solidFill>
            <a:srgbClr val="5BA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14800" y="5166359"/>
            <a:ext cx="3840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Exportacao
TFLite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595360" y="1874519"/>
            <a:ext cx="3291840" cy="777240"/>
          </a:xfrm>
          <a:prstGeom prst="rect">
            <a:avLst/>
          </a:prstGeom>
          <a:solidFill>
            <a:srgbClr val="1F6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95360" y="1874519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Servidor
FastAPI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177272" y="2670048"/>
            <a:ext cx="91440" cy="320040"/>
          </a:xfrm>
          <a:prstGeom prst="rect">
            <a:avLst/>
          </a:prstGeom>
          <a:solidFill>
            <a:srgbClr val="1F6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058400" y="2871216"/>
            <a:ext cx="329184" cy="118872"/>
          </a:xfrm>
          <a:prstGeom prst="rect">
            <a:avLst/>
          </a:prstGeom>
          <a:solidFill>
            <a:srgbClr val="1F6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595360" y="2971800"/>
            <a:ext cx="3291840" cy="7772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95360" y="297180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OTA
HTTP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177272" y="3767328"/>
            <a:ext cx="91440" cy="320040"/>
          </a:xfrm>
          <a:prstGeom prst="rect">
            <a:avLst/>
          </a:prstGeom>
          <a:solidFill>
            <a:srgbClr val="1F6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058400" y="3968496"/>
            <a:ext cx="329184" cy="118872"/>
          </a:xfrm>
          <a:prstGeom prst="rect">
            <a:avLst/>
          </a:prstGeom>
          <a:solidFill>
            <a:srgbClr val="1F6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595360" y="4069079"/>
            <a:ext cx="3291840" cy="777240"/>
          </a:xfrm>
          <a:prstGeom prst="rect">
            <a:avLst/>
          </a:prstGeom>
          <a:solidFill>
            <a:srgbClr val="5BA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95360" y="4069079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SPIFFS
(flash)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177272" y="4864608"/>
            <a:ext cx="91440" cy="320040"/>
          </a:xfrm>
          <a:prstGeom prst="rect">
            <a:avLst/>
          </a:prstGeom>
          <a:solidFill>
            <a:srgbClr val="1F6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058400" y="5065776"/>
            <a:ext cx="329184" cy="118872"/>
          </a:xfrm>
          <a:prstGeom prst="rect">
            <a:avLst/>
          </a:prstGeom>
          <a:solidFill>
            <a:srgbClr val="1F6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595360" y="5166359"/>
            <a:ext cx="3291840" cy="77724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595360" y="5166359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TFLite Micro
(inferencia)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730752" y="3383280"/>
            <a:ext cx="274320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895344" y="3291840"/>
            <a:ext cx="109728" cy="25603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348472" y="3383280"/>
            <a:ext cx="274320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513064" y="3291840"/>
            <a:ext cx="109728" cy="25603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Dataset Sismico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8D4EA"/>
                </a:solidFill>
              </a:rPr>
              <a:t>MiniSEED — janelamento e preprocessamento edge-aware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836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F8C8D"/>
                </a:solidFill>
              </a:rPr>
              <a:t>4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25880"/>
            <a:ext cx="219456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1F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325880"/>
            <a:ext cx="2194560" cy="411480"/>
          </a:xfrm>
          <a:prstGeom prst="rect">
            <a:avLst/>
          </a:prstGeom>
          <a:solidFill>
            <a:srgbClr val="1F6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1344168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Origem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1801368"/>
            <a:ext cx="2057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C1C1C"/>
                </a:solidFill>
              </a:rPr>
              <a:t>Estacoes sismologicas
(formato MiniSEED)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51760" y="1325880"/>
            <a:ext cx="219456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51760" y="1325880"/>
            <a:ext cx="2194560" cy="41148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24912" y="1344168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Classes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24912" y="1801368"/>
            <a:ext cx="2057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C1C1C"/>
                </a:solidFill>
              </a:rPr>
              <a:t>Normal (background)
Anomalo (evento sismico)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1325880"/>
            <a:ext cx="219456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0" y="1325880"/>
            <a:ext cx="2194560" cy="4114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02352" y="1344168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Taxa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02352" y="1801368"/>
            <a:ext cx="2057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C1C1C"/>
                </a:solidFill>
              </a:rPr>
              <a:t>40 Hz
(800 amostras = 20 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1325880"/>
            <a:ext cx="219456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06640" y="1325880"/>
            <a:ext cx="2194560" cy="41148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79792" y="1344168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Overlap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79792" y="1801368"/>
            <a:ext cx="2057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C1C1C"/>
                </a:solidFill>
              </a:rPr>
              <a:t>50%
(step de 10 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784080" y="1325880"/>
            <a:ext cx="219456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784080" y="1325880"/>
            <a:ext cx="2194560" cy="4114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57232" y="1344168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Split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57232" y="1801368"/>
            <a:ext cx="2057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C1C1C"/>
                </a:solidFill>
              </a:rPr>
              <a:t>Por evento
(sem vazamento temporal)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2880360"/>
            <a:ext cx="116128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F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290779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6FAB"/>
                </a:solidFill>
              </a:rPr>
              <a:t>Janelamento com overlap 50%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291840"/>
            <a:ext cx="11338560" cy="320040"/>
          </a:xfrm>
          <a:prstGeom prst="rect">
            <a:avLst/>
          </a:prstGeom>
          <a:solidFill>
            <a:srgbClr val="ECF0F1"/>
          </a:solidFill>
          <a:ln w="12700">
            <a:solidFill>
              <a:srgbClr val="1F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0" y="33101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F8C8D"/>
                </a:solidFill>
              </a:rPr>
              <a:t>Sinal continuo (horas / dias)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703320"/>
            <a:ext cx="2286000" cy="475488"/>
          </a:xfrm>
          <a:prstGeom prst="rect">
            <a:avLst/>
          </a:prstGeom>
          <a:solidFill>
            <a:srgbClr val="1F6FAB"/>
          </a:solidFill>
          <a:ln w="1270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3749039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J0
20s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508760" y="3703320"/>
            <a:ext cx="2286000" cy="475488"/>
          </a:xfrm>
          <a:prstGeom prst="rect">
            <a:avLst/>
          </a:prstGeom>
          <a:solidFill>
            <a:srgbClr val="5BA3D0"/>
          </a:solidFill>
          <a:ln w="1270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554480" y="3749039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J1
20s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651760" y="3703320"/>
            <a:ext cx="2286000" cy="475488"/>
          </a:xfrm>
          <a:prstGeom prst="rect">
            <a:avLst/>
          </a:prstGeom>
          <a:solidFill>
            <a:srgbClr val="1F6FAB"/>
          </a:solidFill>
          <a:ln w="1270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697479" y="3749039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J2
20s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794760" y="3703320"/>
            <a:ext cx="2286000" cy="475488"/>
          </a:xfrm>
          <a:prstGeom prst="rect">
            <a:avLst/>
          </a:prstGeom>
          <a:solidFill>
            <a:srgbClr val="5BA3D0"/>
          </a:solidFill>
          <a:ln w="1270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840480" y="3749039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J3
20s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4206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8C8D"/>
                </a:solidFill>
              </a:rPr>
              <a:t>← step 10s 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14600" y="4206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8C8D"/>
                </a:solidFill>
              </a:rPr>
              <a:t>← step 10s →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4526280"/>
            <a:ext cx="116128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45445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75E"/>
                </a:solidFill>
              </a:rPr>
              <a:t>Preprocessamento Edge-Aware (reproduzivel no microcontrolador)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4956048"/>
            <a:ext cx="1783080" cy="685800"/>
          </a:xfrm>
          <a:prstGeom prst="rect">
            <a:avLst/>
          </a:prstGeom>
          <a:solidFill>
            <a:srgbClr val="1F6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956048"/>
            <a:ext cx="1783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resample
40 Hz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67128" y="512064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F6FAB"/>
                </a:solidFill>
              </a:rPr>
              <a:t>→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304288" y="4956048"/>
            <a:ext cx="1783080" cy="685800"/>
          </a:xfrm>
          <a:prstGeom prst="rect">
            <a:avLst/>
          </a:prstGeom>
          <a:solidFill>
            <a:srgbClr val="1F6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304288" y="4956048"/>
            <a:ext cx="1783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detrend
linear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05656" y="512064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F6FAB"/>
                </a:solidFill>
              </a:rPr>
              <a:t>→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42816" y="4956048"/>
            <a:ext cx="1783080" cy="685800"/>
          </a:xfrm>
          <a:prstGeom prst="rect">
            <a:avLst/>
          </a:prstGeom>
          <a:solidFill>
            <a:srgbClr val="5BA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242816" y="4956048"/>
            <a:ext cx="1783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demean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44184" y="512064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F6FAB"/>
                </a:solidFill>
              </a:rPr>
              <a:t>→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81344" y="4956048"/>
            <a:ext cx="1783080" cy="685800"/>
          </a:xfrm>
          <a:prstGeom prst="rect">
            <a:avLst/>
          </a:prstGeom>
          <a:solidFill>
            <a:srgbClr val="1F6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81344" y="4956048"/>
            <a:ext cx="1783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taper
5%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82712" y="512064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F6FAB"/>
                </a:solidFill>
              </a:rPr>
              <a:t>→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119872" y="4956048"/>
            <a:ext cx="1783080" cy="68580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119872" y="4956048"/>
            <a:ext cx="1783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bandpass
0.5-15 Hz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21240" y="512064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F6FAB"/>
                </a:solidFill>
              </a:rPr>
              <a:t>→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058400" y="4956048"/>
            <a:ext cx="1783080" cy="68580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058400" y="4956048"/>
            <a:ext cx="1783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zscore
por janela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5760" y="57150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F8C8D"/>
                </a:solidFill>
              </a:rPr>
              <a:t>remove_response EXCLUIDO: depende de StationXML — inviavel em firmware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Arquitetura dos Modelos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8D4EA"/>
                </a:solidFill>
              </a:rPr>
              <a:t>Familias suportadas e candidato edge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836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F8C8D"/>
                </a:solidFill>
              </a:rPr>
              <a:t>5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25880"/>
            <a:ext cx="2788920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1F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325880"/>
            <a:ext cx="2788920" cy="502920"/>
          </a:xfrm>
          <a:prstGeom prst="rect">
            <a:avLst/>
          </a:prstGeom>
          <a:solidFill>
            <a:srgbClr val="1F6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134416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Classicos
Supervisionados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920240"/>
            <a:ext cx="2606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C"/>
                </a:solidFill>
              </a:rPr>
              <a:t>Random Forest
Extra Trees
Logistic Regression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200400"/>
            <a:ext cx="2788920" cy="502920"/>
          </a:xfrm>
          <a:prstGeom prst="rect">
            <a:avLst/>
          </a:prstGeom>
          <a:solidFill>
            <a:srgbClr val="ECF0F1"/>
          </a:solidFill>
          <a:ln w="12700">
            <a:solidFill>
              <a:srgbClr val="1F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" y="321868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7F8C8D"/>
                </a:solidFill>
              </a:rPr>
              <a:t>Baselines e interpretabilidade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1325880"/>
            <a:ext cx="2788920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46120" y="1325880"/>
            <a:ext cx="2788920" cy="50292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19272" y="134416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Classicos Nao
Supervisionados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55848" y="1920240"/>
            <a:ext cx="2606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C"/>
                </a:solidFill>
              </a:rPr>
              <a:t>Isolation Forest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46120" y="3200400"/>
            <a:ext cx="2788920" cy="502920"/>
          </a:xfrm>
          <a:prstGeom prst="rect">
            <a:avLst/>
          </a:prstGeom>
          <a:solidFill>
            <a:srgbClr val="ECF0F1"/>
          </a:solidFill>
          <a:ln w="1270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19272" y="321868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7F8C8D"/>
                </a:solidFill>
              </a:rPr>
              <a:t>Cenarios com poucos labels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325880"/>
            <a:ext cx="2788920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325880"/>
            <a:ext cx="2788920" cy="50292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91072" y="134416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Redes Leves
(TinyML)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1920240"/>
            <a:ext cx="2606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C"/>
                </a:solidFill>
              </a:rPr>
              <a:t>Tiny CNN  ← candidato atual
Tiny TCN
LSTM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3200400"/>
            <a:ext cx="2788920" cy="502920"/>
          </a:xfrm>
          <a:prstGeom prst="rect">
            <a:avLst/>
          </a:prstGeom>
          <a:solidFill>
            <a:srgbClr val="ECF0F1"/>
          </a:solidFill>
          <a:ln w="1270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91072" y="321868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7F8C8D"/>
                </a:solidFill>
              </a:rPr>
              <a:t>Modelos para exportacao TFLite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89720" y="1325880"/>
            <a:ext cx="2788920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89720" y="1325880"/>
            <a:ext cx="2788920" cy="5029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62872" y="134416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Autoencoders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99448" y="1920240"/>
            <a:ext cx="2606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C"/>
                </a:solidFill>
              </a:rPr>
              <a:t>Dense AE
CNN AE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89720" y="3200400"/>
            <a:ext cx="2788920" cy="502920"/>
          </a:xfrm>
          <a:prstGeom prst="rect">
            <a:avLst/>
          </a:prstGeom>
          <a:solidFill>
            <a:srgbClr val="ECF0F1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62872" y="321868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7F8C8D"/>
                </a:solidFill>
              </a:rPr>
              <a:t>Deteccao por erro de reconstrucao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4434840"/>
            <a:ext cx="11612880" cy="2240280"/>
          </a:xfrm>
          <a:prstGeom prst="rect">
            <a:avLst/>
          </a:prstGeom>
          <a:solidFill>
            <a:srgbClr val="FFFFFF"/>
          </a:solidFill>
          <a:ln w="2540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4320" y="4434840"/>
            <a:ext cx="11612880" cy="41148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445312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Tiny CNN — Candidato Edge Atual  (15.377 parametros)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956048"/>
            <a:ext cx="1737360" cy="68580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4956048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Input
800x1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12848" y="512064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F6FAB"/>
                </a:solidFill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395728" y="4956048"/>
            <a:ext cx="1737360" cy="685800"/>
          </a:xfrm>
          <a:prstGeom prst="rect">
            <a:avLst/>
          </a:prstGeom>
          <a:solidFill>
            <a:srgbClr val="1F6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395728" y="4956048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Conv1D
Sep x3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51376" y="512064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F6FAB"/>
                </a:solidFill>
              </a:rPr>
              <a:t>→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34256" y="4956048"/>
            <a:ext cx="1737360" cy="685800"/>
          </a:xfrm>
          <a:prstGeom prst="rect">
            <a:avLst/>
          </a:prstGeom>
          <a:solidFill>
            <a:srgbClr val="5BA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34256" y="4956048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BN+Drop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89904" y="512064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F6FAB"/>
                </a:solidFill>
              </a:rPr>
              <a:t>→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72784" y="4956048"/>
            <a:ext cx="1737360" cy="68580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72784" y="4956048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AvgPool
(global)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28432" y="512064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F6FAB"/>
                </a:solidFill>
              </a:rPr>
              <a:t>→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11312" y="4956048"/>
            <a:ext cx="1737360" cy="6858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11312" y="4956048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Dense
48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66960" y="512064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F6FAB"/>
                </a:solidFill>
              </a:rPr>
              <a:t>→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149840" y="4956048"/>
            <a:ext cx="1737360" cy="6858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149840" y="4956048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Sigmoid
out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5760" y="57424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F8C8D"/>
                </a:solidFill>
              </a:rPr>
              <a:t>head_pooling: avg  ·  conv_type: conv  ·  n_blocks: 3  ·  base_filters: 16  ·  dropout: 0.24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Treinamento e HPO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8D4EA"/>
                </a:solidFill>
              </a:rPr>
              <a:t>MLflow para rastreamento · Optuna para busca de hiperparametros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836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F8C8D"/>
                </a:solidFill>
              </a:rPr>
              <a:t>6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98448"/>
            <a:ext cx="5303520" cy="5349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F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32588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6FAB"/>
                </a:solidFill>
              </a:rPr>
              <a:t>Fluxo MLflow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783080"/>
            <a:ext cx="5029200" cy="548640"/>
          </a:xfrm>
          <a:prstGeom prst="rect">
            <a:avLst/>
          </a:prstGeom>
          <a:solidFill>
            <a:srgbClr val="1F6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7830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Carrega profile
(seismic_edge_v1)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2350008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F6FAB"/>
                </a:solidFill>
              </a:rPr>
              <a:t>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377440"/>
            <a:ext cx="5029200" cy="548640"/>
          </a:xfrm>
          <a:prstGeom prst="rect">
            <a:avLst/>
          </a:prstGeom>
          <a:solidFill>
            <a:srgbClr val="5BA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3774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Carrega dataset NPZ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2944368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F6FAB"/>
                </a:solidFill>
              </a:rPr>
              <a:t>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971800"/>
            <a:ext cx="5029200" cy="548640"/>
          </a:xfrm>
          <a:prstGeom prst="rect">
            <a:avLst/>
          </a:prstGeom>
          <a:solidFill>
            <a:srgbClr val="1F6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9718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Extrai features
tabulares (26 features)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3538728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F6FAB"/>
                </a:solidFill>
              </a:rPr>
              <a:t>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566160"/>
            <a:ext cx="5029200" cy="5486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35661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Treina modelos
enabled=true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97480" y="4133087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F6FAB"/>
                </a:solidFill>
              </a:rPr>
              <a:t>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160520"/>
            <a:ext cx="5029200" cy="54864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41605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Avalia val + teste
(AUC-PR, F1, FP/h)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80" y="4727448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F6FAB"/>
                </a:solidFill>
              </a:rPr>
              <a:t>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754880"/>
            <a:ext cx="5029200" cy="548640"/>
          </a:xfrm>
          <a:prstGeom prst="rect">
            <a:avLst/>
          </a:prstGeom>
          <a:solidFill>
            <a:srgbClr val="1F6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47548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Registra no MLflow
(params + metricas)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97480" y="5321808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F6FAB"/>
                </a:solidFill>
              </a:rPr>
              <a:t>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349240"/>
            <a:ext cx="5029200" cy="54864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53492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Seleciona candidato
edge_candidate=true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97480" y="5916168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F6FAB"/>
                </a:solidFill>
              </a:rPr>
              <a:t>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943600"/>
            <a:ext cx="5029200" cy="5486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59436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Salva
candidate_manifest.json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97880" y="1298448"/>
            <a:ext cx="59893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89320" y="1325880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39C12"/>
                </a:solidFill>
              </a:rPr>
              <a:t>HPO com Optuna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89320" y="1801368"/>
            <a:ext cx="1371600" cy="47548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89320" y="1801368"/>
            <a:ext cx="1371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Trials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24927" y="182880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1C1C"/>
                </a:solidFill>
              </a:rPr>
              <a:t>60 rodadas de busca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89320" y="2350008"/>
            <a:ext cx="1371600" cy="47548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89320" y="2350008"/>
            <a:ext cx="1371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Metrica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24927" y="237744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1C1C"/>
                </a:solidFill>
              </a:rPr>
              <a:t>val_auc_pr (maximizar)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89320" y="2898648"/>
            <a:ext cx="1371600" cy="47548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89320" y="2898648"/>
            <a:ext cx="1371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Espaco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24927" y="292608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1C1C"/>
                </a:solidFill>
              </a:rPr>
              <a:t>filters, kernel, lr, dropout...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89320" y="3447287"/>
            <a:ext cx="1371600" cy="47548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89320" y="3447287"/>
            <a:ext cx="1371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Resultado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24927" y="347472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1C1C"/>
                </a:solidFill>
              </a:rPr>
              <a:t>best_value = 0.9671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97880" y="4160520"/>
            <a:ext cx="5989320" cy="2487168"/>
          </a:xfrm>
          <a:prstGeom prst="rect">
            <a:avLst/>
          </a:prstGeom>
          <a:solidFill>
            <a:srgbClr val="FFFFFF"/>
          </a:solidFill>
          <a:ln w="2540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897880" y="4160520"/>
            <a:ext cx="5989320" cy="41148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89320" y="4178808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Resultado Final do Candidato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35040" y="4663440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C"/>
                </a:solidFill>
              </a:rPr>
              <a:t>AUC-PR (teste)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01200" y="4663440"/>
            <a:ext cx="2011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E8B4C"/>
                </a:solidFill>
              </a:rPr>
              <a:t>0.8775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35040" y="4983479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C"/>
                </a:solidFill>
              </a:rPr>
              <a:t>F1 (teste)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01200" y="4983479"/>
            <a:ext cx="2011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E8B4C"/>
                </a:solidFill>
              </a:rPr>
              <a:t>0.8109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35040" y="5303520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C"/>
                </a:solidFill>
              </a:rPr>
              <a:t>Precision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01200" y="5303520"/>
            <a:ext cx="2011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E8B4C"/>
                </a:solidFill>
              </a:rPr>
              <a:t>0.8431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035040" y="5623559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C"/>
                </a:solidFill>
              </a:rPr>
              <a:t>Recall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01200" y="5623559"/>
            <a:ext cx="2011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E8B4C"/>
                </a:solidFill>
              </a:rPr>
              <a:t>0.7810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35040" y="5943600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C"/>
                </a:solidFill>
              </a:rPr>
              <a:t>FP/h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01200" y="5943600"/>
            <a:ext cx="2011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E8B4C"/>
                </a:solidFill>
              </a:rPr>
              <a:t>6.75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035040" y="6263640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C"/>
                </a:solidFill>
              </a:rPr>
              <a:t>Parametros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601200" y="6263640"/>
            <a:ext cx="2011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E8B4C"/>
                </a:solidFill>
              </a:rPr>
              <a:t>15.377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Comparativo de Modelos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8D4EA"/>
                </a:solidFill>
              </a:rPr>
              <a:t>AUC-PR como metrica primaria (deteccao desbalanceada)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836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F8C8D"/>
                </a:solidFill>
              </a:rPr>
              <a:t>7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98448"/>
            <a:ext cx="4087368" cy="475488"/>
          </a:xfrm>
          <a:prstGeom prst="rect">
            <a:avLst/>
          </a:prstGeom>
          <a:solidFill>
            <a:srgbClr val="1A375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353312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Modelo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298448"/>
            <a:ext cx="1161288" cy="475488"/>
          </a:xfrm>
          <a:prstGeom prst="rect">
            <a:avLst/>
          </a:prstGeom>
          <a:solidFill>
            <a:srgbClr val="1A375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353312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AUC-PR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1298448"/>
            <a:ext cx="1069848" cy="475488"/>
          </a:xfrm>
          <a:prstGeom prst="rect">
            <a:avLst/>
          </a:prstGeom>
          <a:solidFill>
            <a:srgbClr val="1A375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23559" y="1353312"/>
            <a:ext cx="10058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0" y="1298448"/>
            <a:ext cx="1161288" cy="475488"/>
          </a:xfrm>
          <a:prstGeom prst="rect">
            <a:avLst/>
          </a:prstGeom>
          <a:solidFill>
            <a:srgbClr val="1A375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1353312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Precision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3840" y="1298448"/>
            <a:ext cx="1069848" cy="475488"/>
          </a:xfrm>
          <a:prstGeom prst="rect">
            <a:avLst/>
          </a:prstGeom>
          <a:solidFill>
            <a:srgbClr val="1A375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09560" y="1353312"/>
            <a:ext cx="10058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Recall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19" y="1298448"/>
            <a:ext cx="978408" cy="475488"/>
          </a:xfrm>
          <a:prstGeom prst="rect">
            <a:avLst/>
          </a:prstGeom>
          <a:solidFill>
            <a:srgbClr val="1A375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06840" y="1353312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FP/h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66959" y="1298448"/>
            <a:ext cx="886968" cy="475488"/>
          </a:xfrm>
          <a:prstGeom prst="rect">
            <a:avLst/>
          </a:prstGeom>
          <a:solidFill>
            <a:srgbClr val="1A375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12680" y="1353312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Edge?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1801368"/>
            <a:ext cx="4087368" cy="475488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1856231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1C1C"/>
                </a:solidFill>
              </a:rPr>
              <a:t>Optuna Tiny CNN v4 (ref. externa)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120" y="1801368"/>
            <a:ext cx="1161288" cy="475488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34840" y="1856231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C1C1C"/>
                </a:solidFill>
              </a:rPr>
              <a:t>0.9127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77840" y="1801368"/>
            <a:ext cx="1069848" cy="475488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23559" y="1856231"/>
            <a:ext cx="10058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C1C1C"/>
                </a:solidFill>
              </a:rPr>
              <a:t>0.8526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75120" y="1801368"/>
            <a:ext cx="1161288" cy="475488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20840" y="1856231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C1C1C"/>
                </a:solidFill>
              </a:rPr>
              <a:t>0.8982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63840" y="1801368"/>
            <a:ext cx="1069848" cy="475488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09560" y="1856231"/>
            <a:ext cx="10058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C1C1C"/>
                </a:solidFill>
              </a:rPr>
              <a:t>0.8114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961119" y="1801368"/>
            <a:ext cx="978408" cy="475488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06840" y="1856231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C1C1C"/>
                </a:solidFill>
              </a:rPr>
              <a:t>4.90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966959" y="1801368"/>
            <a:ext cx="886968" cy="475488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12680" y="1856231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C1C1C"/>
                </a:solidFill>
              </a:rPr>
              <a:t>Sim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2350008"/>
            <a:ext cx="4087368" cy="475488"/>
          </a:xfrm>
          <a:prstGeom prst="rect">
            <a:avLst/>
          </a:prstGeom>
          <a:solidFill>
            <a:srgbClr val="D4EFD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2404872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8B4C"/>
                </a:solidFill>
              </a:rPr>
              <a:t>Tiny CNN (atual) ← APROVADO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89120" y="2350008"/>
            <a:ext cx="1161288" cy="475488"/>
          </a:xfrm>
          <a:prstGeom prst="rect">
            <a:avLst/>
          </a:prstGeom>
          <a:solidFill>
            <a:srgbClr val="D4EFD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34840" y="2404872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8B4C"/>
                </a:solidFill>
              </a:rPr>
              <a:t>0.8775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577840" y="2350008"/>
            <a:ext cx="1069848" cy="475488"/>
          </a:xfrm>
          <a:prstGeom prst="rect">
            <a:avLst/>
          </a:prstGeom>
          <a:solidFill>
            <a:srgbClr val="D4EFD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23559" y="2404872"/>
            <a:ext cx="10058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8B4C"/>
                </a:solidFill>
              </a:rPr>
              <a:t>0.8109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675120" y="2350008"/>
            <a:ext cx="1161288" cy="475488"/>
          </a:xfrm>
          <a:prstGeom prst="rect">
            <a:avLst/>
          </a:prstGeom>
          <a:solidFill>
            <a:srgbClr val="D4EFD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20840" y="2404872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8B4C"/>
                </a:solidFill>
              </a:rPr>
              <a:t>0.8431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863840" y="2350008"/>
            <a:ext cx="1069848" cy="475488"/>
          </a:xfrm>
          <a:prstGeom prst="rect">
            <a:avLst/>
          </a:prstGeom>
          <a:solidFill>
            <a:srgbClr val="D4EFD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09560" y="2404872"/>
            <a:ext cx="10058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8B4C"/>
                </a:solidFill>
              </a:rPr>
              <a:t>0.7810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961119" y="2350008"/>
            <a:ext cx="978408" cy="475488"/>
          </a:xfrm>
          <a:prstGeom prst="rect">
            <a:avLst/>
          </a:prstGeom>
          <a:solidFill>
            <a:srgbClr val="D4EFD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06840" y="2404872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8B4C"/>
                </a:solidFill>
              </a:rPr>
              <a:t>6.75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966959" y="2350008"/>
            <a:ext cx="886968" cy="475488"/>
          </a:xfrm>
          <a:prstGeom prst="rect">
            <a:avLst/>
          </a:prstGeom>
          <a:solidFill>
            <a:srgbClr val="D4EFD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012680" y="2404872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8B4C"/>
                </a:solidFill>
              </a:rPr>
              <a:t>Sim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2898648"/>
            <a:ext cx="408736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20040" y="2953512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1C1C"/>
                </a:solidFill>
              </a:rPr>
              <a:t>Tiny CNN (baseline sem HPO)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389120" y="2898648"/>
            <a:ext cx="116128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434840" y="2953512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C1C1C"/>
                </a:solidFill>
              </a:rPr>
              <a:t>0.8982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577840" y="2898648"/>
            <a:ext cx="106984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623559" y="2953512"/>
            <a:ext cx="10058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C1C1C"/>
                </a:solidFill>
              </a:rPr>
              <a:t>0.7951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675120" y="2898648"/>
            <a:ext cx="116128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720840" y="2953512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C1C1C"/>
                </a:solidFill>
              </a:rPr>
              <a:t>0.7310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863840" y="2898648"/>
            <a:ext cx="106984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909560" y="2953512"/>
            <a:ext cx="10058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C1C1C"/>
                </a:solidFill>
              </a:rPr>
              <a:t>0.8716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961119" y="2898648"/>
            <a:ext cx="97840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006840" y="2953512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C1C1C"/>
                </a:solidFill>
              </a:rPr>
              <a:t>16.94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966959" y="2898648"/>
            <a:ext cx="88696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012680" y="2953512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C1C1C"/>
                </a:solidFill>
              </a:rPr>
              <a:t>Sim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4320" y="3447287"/>
            <a:ext cx="4087368" cy="475488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20040" y="3502151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1C1C"/>
                </a:solidFill>
              </a:rPr>
              <a:t>Tiny TCN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389120" y="3447287"/>
            <a:ext cx="1161288" cy="475488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434840" y="3502151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C1C1C"/>
                </a:solidFill>
              </a:rPr>
              <a:t>0.8964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577840" y="3447287"/>
            <a:ext cx="1069848" cy="475488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623559" y="3502151"/>
            <a:ext cx="10058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C1C1C"/>
                </a:solidFill>
              </a:rPr>
              <a:t>0.7666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675120" y="3447287"/>
            <a:ext cx="1161288" cy="475488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720840" y="3502151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C1C1C"/>
                </a:solidFill>
              </a:rPr>
              <a:t>0.6790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863840" y="3447287"/>
            <a:ext cx="1069848" cy="475488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909560" y="3502151"/>
            <a:ext cx="10058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C1C1C"/>
                </a:solidFill>
              </a:rPr>
              <a:t>0.8801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961119" y="3447287"/>
            <a:ext cx="978408" cy="475488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006840" y="3502151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C1C1C"/>
                </a:solidFill>
              </a:rPr>
              <a:t>21.98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966959" y="3447287"/>
            <a:ext cx="886968" cy="475488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012680" y="3502151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C1C1C"/>
                </a:solidFill>
              </a:rPr>
              <a:t>Sim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74320" y="3995928"/>
            <a:ext cx="408736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20040" y="4050791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1C1C"/>
                </a:solidFill>
              </a:rPr>
              <a:t>Random Forest (Optuna)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389120" y="3995928"/>
            <a:ext cx="116128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434840" y="4050791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C1C1C"/>
                </a:solidFill>
              </a:rPr>
              <a:t>0.8127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577840" y="3995928"/>
            <a:ext cx="106984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623559" y="4050791"/>
            <a:ext cx="10058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C1C1C"/>
                </a:solidFill>
              </a:rPr>
              <a:t>0.7367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675120" y="3995928"/>
            <a:ext cx="116128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720840" y="4050791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C1C1C"/>
                </a:solidFill>
              </a:rPr>
              <a:t>0.7974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863840" y="3995928"/>
            <a:ext cx="106984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909560" y="4050791"/>
            <a:ext cx="10058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C1C1C"/>
                </a:solidFill>
              </a:rPr>
              <a:t>0.6846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961119" y="3995928"/>
            <a:ext cx="97840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006840" y="4050791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C1C1C"/>
                </a:solidFill>
              </a:rPr>
              <a:t>9.26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966959" y="3995928"/>
            <a:ext cx="88696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0012680" y="4050791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C1C1C"/>
                </a:solidFill>
              </a:rPr>
              <a:t>Nao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74320" y="4544568"/>
            <a:ext cx="4087368" cy="475488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20040" y="4599431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1C1C"/>
                </a:solidFill>
              </a:rPr>
              <a:t>Extra Trees (Optuna)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389120" y="4544568"/>
            <a:ext cx="1161288" cy="475488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434840" y="4599431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C1C1C"/>
                </a:solidFill>
              </a:rPr>
              <a:t>0.7901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577840" y="4544568"/>
            <a:ext cx="1069848" cy="475488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623559" y="4599431"/>
            <a:ext cx="10058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C1C1C"/>
                </a:solidFill>
              </a:rPr>
              <a:t>0.7102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675120" y="4544568"/>
            <a:ext cx="1161288" cy="475488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720840" y="4599431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C1C1C"/>
                </a:solidFill>
              </a:rPr>
              <a:t>0.7589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863840" y="4544568"/>
            <a:ext cx="1069848" cy="475488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909560" y="4599431"/>
            <a:ext cx="10058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C1C1C"/>
                </a:solidFill>
              </a:rPr>
              <a:t>0.6675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961119" y="4544568"/>
            <a:ext cx="978408" cy="475488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006840" y="4599431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C1C1C"/>
                </a:solidFill>
              </a:rPr>
              <a:t>11.30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9966959" y="4544568"/>
            <a:ext cx="886968" cy="475488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0012680" y="4599431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C1C1C"/>
                </a:solidFill>
              </a:rPr>
              <a:t>Nao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74320" y="5093207"/>
            <a:ext cx="408736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20040" y="5148071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</a:rPr>
              <a:t>STA/LTA (baseline tradicional)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389120" y="5093207"/>
            <a:ext cx="116128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4434840" y="5148071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F8C8D"/>
                </a:solidFill>
              </a:rPr>
              <a:t>0.1662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577840" y="5093207"/>
            <a:ext cx="106984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5623559" y="5148071"/>
            <a:ext cx="10058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F8C8D"/>
                </a:solidFill>
              </a:rPr>
              <a:t>0.2760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675120" y="5093207"/>
            <a:ext cx="116128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720840" y="5148071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F8C8D"/>
                </a:solidFill>
              </a:rPr>
              <a:t>0.1773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863840" y="5093207"/>
            <a:ext cx="106984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909560" y="5148071"/>
            <a:ext cx="10058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F8C8D"/>
                </a:solidFill>
              </a:rPr>
              <a:t>0.6230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961119" y="5093207"/>
            <a:ext cx="97840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9006840" y="5148071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F8C8D"/>
                </a:solidFill>
              </a:rPr>
              <a:t>—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9966959" y="5093207"/>
            <a:ext cx="88696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0012680" y="5148071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F8C8D"/>
                </a:solidFill>
              </a:rPr>
              <a:t>Nao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274320" y="580644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1F6FAB"/>
                </a:solidFill>
              </a:rPr>
              <a:t>Quality gate: AUC-PR &gt;= 0.80 · F1 &gt;= 0.70 · FP/h &lt;= 10 · gap val-test &lt;= 0.08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274320" y="6236208"/>
            <a:ext cx="116128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65760" y="628192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8C8D"/>
                </a:solidFill>
              </a:rPr>
              <a:t>AUC-PR: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Quality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8D4EA"/>
                </a:solidFill>
              </a:rPr>
              <a:t>Criterios automaticos para promocao a producao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836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F8C8D"/>
                </a:solidFill>
              </a:rPr>
              <a:t>8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325880"/>
            <a:ext cx="2468880" cy="530352"/>
          </a:xfrm>
          <a:prstGeom prst="rect">
            <a:avLst/>
          </a:prstGeom>
          <a:solidFill>
            <a:srgbClr val="1F6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25880"/>
            <a:ext cx="2468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candidate_manifest.json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01568" y="146304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F6FAB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03320" y="1325880"/>
            <a:ext cx="2468880" cy="5303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1325880"/>
            <a:ext cx="2468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promote_model.py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0488" y="146304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F6FAB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1325880"/>
            <a:ext cx="2468880" cy="530352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325880"/>
            <a:ext cx="2468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Verifica criterios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79408" y="146304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F6FAB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81159" y="1325880"/>
            <a:ext cx="2468880" cy="530352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81159" y="1325880"/>
            <a:ext cx="2468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production_manifest.json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011680"/>
            <a:ext cx="566928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203911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75E"/>
                </a:solidFill>
              </a:rPr>
              <a:t>Criterios Configurados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514600"/>
            <a:ext cx="3200400" cy="566928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257860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AUC-PR minima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11880" y="2514600"/>
            <a:ext cx="2194560" cy="566928"/>
          </a:xfrm>
          <a:prstGeom prst="rect">
            <a:avLst/>
          </a:prstGeom>
          <a:solidFill>
            <a:srgbClr val="5BA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30168" y="257860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375E"/>
                </a:solidFill>
              </a:rPr>
              <a:t>&gt;= 0.80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200400"/>
            <a:ext cx="3200400" cy="566928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326440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F1 minimo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11880" y="3200400"/>
            <a:ext cx="2194560" cy="566928"/>
          </a:xfrm>
          <a:prstGeom prst="rect">
            <a:avLst/>
          </a:prstGeom>
          <a:solidFill>
            <a:srgbClr val="5BA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30168" y="326440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375E"/>
                </a:solidFill>
              </a:rPr>
              <a:t>&gt;= 0.70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886200"/>
            <a:ext cx="3200400" cy="566928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395020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FP por hora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11880" y="3886200"/>
            <a:ext cx="2194560" cy="566928"/>
          </a:xfrm>
          <a:prstGeom prst="rect">
            <a:avLst/>
          </a:prstGeom>
          <a:solidFill>
            <a:srgbClr val="5BA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30168" y="395020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375E"/>
                </a:solidFill>
              </a:rPr>
              <a:t>&lt;= 10.0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572000"/>
            <a:ext cx="3200400" cy="566928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463600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Gap val-test AUC-PR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11880" y="4572000"/>
            <a:ext cx="2194560" cy="566928"/>
          </a:xfrm>
          <a:prstGeom prst="rect">
            <a:avLst/>
          </a:prstGeom>
          <a:solidFill>
            <a:srgbClr val="5BA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30168" y="463600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375E"/>
                </a:solidFill>
              </a:rPr>
              <a:t>&lt;= 0.08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5257800"/>
            <a:ext cx="3200400" cy="566928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532180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Tamanho do modelo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11880" y="5257800"/>
            <a:ext cx="2194560" cy="566928"/>
          </a:xfrm>
          <a:prstGeom prst="rect">
            <a:avLst/>
          </a:prstGeom>
          <a:solidFill>
            <a:srgbClr val="5BA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30168" y="532180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375E"/>
                </a:solidFill>
              </a:rPr>
              <a:t>&lt;= 300 KB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2011680"/>
            <a:ext cx="5669280" cy="4480560"/>
          </a:xfrm>
          <a:prstGeom prst="rect">
            <a:avLst/>
          </a:prstGeom>
          <a:solidFill>
            <a:srgbClr val="FFFFFF"/>
          </a:solidFill>
          <a:ln w="2540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17920" y="2011680"/>
            <a:ext cx="5669280" cy="41148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09360" y="202996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Resultado — Tiny CNN APROVADO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60" y="2514600"/>
            <a:ext cx="2286000" cy="56692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55080" y="2587752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1C1C"/>
                </a:solidFill>
              </a:rPr>
              <a:t>AUC-PR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641080" y="2514600"/>
            <a:ext cx="1554480" cy="566928"/>
          </a:xfrm>
          <a:prstGeom prst="rect">
            <a:avLst/>
          </a:prstGeom>
          <a:solidFill>
            <a:srgbClr val="D4EF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59368" y="2587752"/>
            <a:ext cx="1508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8B4C"/>
                </a:solidFill>
              </a:rPr>
              <a:t>0.8775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41280" y="260604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8B4C"/>
                </a:solidFill>
              </a:rPr>
              <a:t>✅ &gt;= 0.80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09360" y="3200400"/>
            <a:ext cx="2286000" cy="56692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55080" y="3273552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1C1C"/>
                </a:solidFill>
              </a:rPr>
              <a:t>F1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641080" y="3200400"/>
            <a:ext cx="1554480" cy="566928"/>
          </a:xfrm>
          <a:prstGeom prst="rect">
            <a:avLst/>
          </a:prstGeom>
          <a:solidFill>
            <a:srgbClr val="D4EF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659368" y="3273552"/>
            <a:ext cx="1508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8B4C"/>
                </a:solidFill>
              </a:rPr>
              <a:t>0.8109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241280" y="329184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8B4C"/>
                </a:solidFill>
              </a:rPr>
              <a:t>✅ &gt;= 0.70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09360" y="3886200"/>
            <a:ext cx="2286000" cy="56692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55080" y="3959352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1C1C"/>
                </a:solidFill>
              </a:rPr>
              <a:t>FP/h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641080" y="3886200"/>
            <a:ext cx="1554480" cy="566928"/>
          </a:xfrm>
          <a:prstGeom prst="rect">
            <a:avLst/>
          </a:prstGeom>
          <a:solidFill>
            <a:srgbClr val="D4EF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659368" y="3959352"/>
            <a:ext cx="1508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8B4C"/>
                </a:solidFill>
              </a:rPr>
              <a:t>6.75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241280" y="3977639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8B4C"/>
                </a:solidFill>
              </a:rPr>
              <a:t>✅ &lt;= 10.0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309360" y="4572000"/>
            <a:ext cx="2286000" cy="56692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55080" y="4645152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1C1C"/>
                </a:solidFill>
              </a:rPr>
              <a:t>Gap val-test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641080" y="4572000"/>
            <a:ext cx="1554480" cy="566928"/>
          </a:xfrm>
          <a:prstGeom prst="rect">
            <a:avLst/>
          </a:prstGeom>
          <a:solidFill>
            <a:srgbClr val="D4EF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59368" y="4645152"/>
            <a:ext cx="1508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8B4C"/>
                </a:solidFill>
              </a:rPr>
              <a:t>0.018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241280" y="466344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8B4C"/>
                </a:solidFill>
              </a:rPr>
              <a:t>✅ &lt;= 0.08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309360" y="5257800"/>
            <a:ext cx="2286000" cy="56692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355080" y="5330952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1C1C"/>
                </a:solidFill>
              </a:rPr>
              <a:t>Tamanho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641080" y="5257800"/>
            <a:ext cx="1554480" cy="566928"/>
          </a:xfrm>
          <a:prstGeom prst="rect">
            <a:avLst/>
          </a:prstGeom>
          <a:solidFill>
            <a:srgbClr val="D4EF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659368" y="5330952"/>
            <a:ext cx="1508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8B4C"/>
                </a:solidFill>
              </a:rPr>
              <a:t>25.7 KB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241280" y="534924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8B4C"/>
                </a:solidFill>
              </a:rPr>
              <a:t>✅ &lt;= 300 KB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74320" y="658368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8B4C"/>
                </a:solidFill>
              </a:rPr>
              <a:t>Todos os 5 criterios aprovados — modelo promovido a producao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Exportacao TFLite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8D4EA"/>
                </a:solidFill>
              </a:rPr>
              <a:t>Tres formatos de quantizacao para diferentes cenarios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836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F8C8D"/>
                </a:solidFill>
              </a:rPr>
              <a:t>9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25880"/>
            <a:ext cx="2743200" cy="658368"/>
          </a:xfrm>
          <a:prstGeom prst="rect">
            <a:avLst/>
          </a:prstGeom>
          <a:solidFill>
            <a:srgbClr val="1F6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325880"/>
            <a:ext cx="2743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tiny_cnn.keras
(modelo Keras)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81528" y="150876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F6FAB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325880"/>
            <a:ext cx="2743200" cy="65836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1325880"/>
            <a:ext cx="2743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export_tflite.py
(conversao)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53328" y="150876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F6FAB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325880"/>
            <a:ext cx="2743200" cy="658368"/>
          </a:xfrm>
          <a:prstGeom prst="rect">
            <a:avLst/>
          </a:prstGeom>
          <a:solidFill>
            <a:srgbClr val="5BA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325880"/>
            <a:ext cx="2743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Representative
Dataset (int8)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25128" y="150876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F6FAB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5440" y="1325880"/>
            <a:ext cx="2743200" cy="658368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1325880"/>
            <a:ext cx="2743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Artefatos
edge/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176272"/>
            <a:ext cx="3749039" cy="4160520"/>
          </a:xfrm>
          <a:prstGeom prst="rect">
            <a:avLst/>
          </a:prstGeom>
          <a:solidFill>
            <a:srgbClr val="FFFFFF"/>
          </a:solidFill>
          <a:ln w="25400">
            <a:solidFill>
              <a:srgbClr val="1F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2176272"/>
            <a:ext cx="3749039" cy="475488"/>
          </a:xfrm>
          <a:prstGeom prst="rect">
            <a:avLst/>
          </a:prstGeom>
          <a:solidFill>
            <a:srgbClr val="1F6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2194560"/>
            <a:ext cx="3566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float32.tflite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0" y="2743200"/>
            <a:ext cx="2286000" cy="502920"/>
          </a:xfrm>
          <a:prstGeom prst="rect">
            <a:avLst/>
          </a:prstGeom>
          <a:solidFill>
            <a:srgbClr val="1F6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27432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66.2 KB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333756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C1C1C"/>
                </a:solidFill>
              </a:rPr>
              <a:t>Pesos em 32 bits
Nenhuma quantizacao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023360"/>
            <a:ext cx="3566160" cy="47548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79" y="4041648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1F6FAB"/>
                </a:solidFill>
              </a:rPr>
              <a:t>Firmware atual
(validado no ESP32)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4590288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F8C8D"/>
                </a:solidFill>
              </a:rPr>
              <a:t>Precisao maxima
Maior consumo RAM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51959" y="2176272"/>
            <a:ext cx="3749039" cy="4160520"/>
          </a:xfrm>
          <a:prstGeom prst="rect">
            <a:avLst/>
          </a:prstGeom>
          <a:solidFill>
            <a:srgbClr val="FFFFFF"/>
          </a:solidFill>
          <a:ln w="25400">
            <a:solidFill>
              <a:srgbClr val="5BA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51959" y="2176272"/>
            <a:ext cx="3749039" cy="475488"/>
          </a:xfrm>
          <a:prstGeom prst="rect">
            <a:avLst/>
          </a:prstGeom>
          <a:solidFill>
            <a:srgbClr val="5BA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43399" y="2194560"/>
            <a:ext cx="3566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float16.tflite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983479" y="2743200"/>
            <a:ext cx="2286000" cy="502920"/>
          </a:xfrm>
          <a:prstGeom prst="rect">
            <a:avLst/>
          </a:prstGeom>
          <a:solidFill>
            <a:srgbClr val="5BA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83479" y="27432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37.9 KB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399" y="333756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C1C1C"/>
                </a:solidFill>
              </a:rPr>
              <a:t>Pesos em 16 bits
Quantizacao de pesos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43399" y="4023360"/>
            <a:ext cx="3566160" cy="47548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89120" y="4041648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1F6FAB"/>
                </a:solidFill>
              </a:rPr>
              <a:t>Alternativa compacta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399" y="4590288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F8C8D"/>
                </a:solidFill>
              </a:rPr>
              <a:t>Bom equilibrio
tamanho/precisao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0" y="2176272"/>
            <a:ext cx="3749039" cy="4160520"/>
          </a:xfrm>
          <a:prstGeom prst="rect">
            <a:avLst/>
          </a:prstGeom>
          <a:solidFill>
            <a:srgbClr val="FFFFFF"/>
          </a:solidFill>
          <a:ln w="2540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29600" y="2176272"/>
            <a:ext cx="3749039" cy="475488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21040" y="2194560"/>
            <a:ext cx="3566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int8.tflite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961120" y="2743200"/>
            <a:ext cx="2286000" cy="50292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61120" y="27432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25.7 KB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333756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C1C1C"/>
                </a:solidFill>
              </a:rPr>
              <a:t>Pesos e ativacoes em 8 bits
PTQ com rep. dataset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21040" y="4023360"/>
            <a:ext cx="3566160" cy="47548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66760" y="4041648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1F6FAB"/>
                </a:solidFill>
              </a:rPr>
              <a:t>Alvo final
(REDUCE_MAX pendente)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4590288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F8C8D"/>
                </a:solidFill>
              </a:rPr>
              <a:t>Menor tamanho
Maior velocidade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" y="6492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1F6FAB"/>
                </a:solidFill>
              </a:rPr>
              <a:t>Header C/C++ (.h) gerado automaticamente — incluso diretamente no firmware PlatformIO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Drift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8D4EA"/>
                </a:solidFill>
              </a:rPr>
              <a:t>Monitoramento de distribuicao e ciclo de retreino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836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F8C8D"/>
                </a:solidFill>
              </a:rPr>
              <a:t>10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25880"/>
            <a:ext cx="2743200" cy="594360"/>
          </a:xfrm>
          <a:prstGeom prst="rect">
            <a:avLst/>
          </a:prstGeom>
          <a:solidFill>
            <a:srgbClr val="1F6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32588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build_drift
_reference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81528" y="1444752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F6FAB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325880"/>
            <a:ext cx="2743200" cy="594360"/>
          </a:xfrm>
          <a:prstGeom prst="rect">
            <a:avLst/>
          </a:prstGeom>
          <a:solidFill>
            <a:srgbClr val="1F6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132588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check_data
_drift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53328" y="1444752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F6FAB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325880"/>
            <a:ext cx="2743200" cy="594360"/>
          </a:xfrm>
          <a:prstGeom prst="rect">
            <a:avLst/>
          </a:prstGeom>
          <a:solidFill>
            <a:srgbClr val="1F6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32588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retrain
_policy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25128" y="1444752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F6FAB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5440" y="1325880"/>
            <a:ext cx="2743200" cy="594360"/>
          </a:xfrm>
          <a:prstGeom prst="rect">
            <a:avLst/>
          </a:prstGeom>
          <a:solidFill>
            <a:srgbClr val="1F6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132588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drift_to_ota
_decision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103120"/>
            <a:ext cx="3749039" cy="3017520"/>
          </a:xfrm>
          <a:prstGeom prst="rect">
            <a:avLst/>
          </a:prstGeom>
          <a:solidFill>
            <a:srgbClr val="FFFFFF"/>
          </a:solidFill>
          <a:ln w="254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2103120"/>
            <a:ext cx="3749039" cy="41148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2121408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z-shift (max)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260604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C1C1C"/>
                </a:solidFill>
              </a:rPr>
              <a:t>0.0176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329184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C1C1C"/>
                </a:solidFill>
              </a:rPr>
              <a:t>Deslocamento de media
em desvios padrao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886200"/>
            <a:ext cx="3566160" cy="54864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79" y="3904487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F8C8D"/>
                </a:solidFill>
              </a:rPr>
              <a:t>Baixo — medias
pouco alteradas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51959" y="2103120"/>
            <a:ext cx="3749039" cy="3017520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51959" y="2103120"/>
            <a:ext cx="3749039" cy="4114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43399" y="2121408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PSI (max)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59" y="260604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C0392B"/>
                </a:solidFill>
              </a:rPr>
              <a:t>0.3463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399" y="329184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C1C1C"/>
                </a:solidFill>
              </a:rPr>
              <a:t>Population Stability Index
mudanca de distribuicao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43399" y="3886200"/>
            <a:ext cx="3566160" cy="54864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9120" y="3904487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0392B"/>
                </a:solidFill>
              </a:rPr>
              <a:t>ALTO
&gt; 0.2 = significativo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0" y="2103120"/>
            <a:ext cx="3749039" cy="3017520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29600" y="2103120"/>
            <a:ext cx="3749039" cy="4114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21040" y="2121408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KS p-value (min)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260604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C0392B"/>
                </a:solidFill>
              </a:rPr>
              <a:t>0.000033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329184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C1C1C"/>
                </a:solidFill>
              </a:rPr>
              <a:t>Teste Kolmogorov-Smirnov
diferenca estatistica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21040" y="3886200"/>
            <a:ext cx="3566160" cy="54864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66760" y="3904487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0392B"/>
                </a:solidFill>
              </a:rPr>
              <a:t>Muito significativo
p &lt;&lt; 0.05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5303520"/>
            <a:ext cx="5394960" cy="960120"/>
          </a:xfrm>
          <a:prstGeom prst="rect">
            <a:avLst/>
          </a:prstGeom>
          <a:solidFill>
            <a:srgbClr val="FFFFFF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74320" y="5303520"/>
            <a:ext cx="5394960" cy="38404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53218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Politica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57607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39C12"/>
                </a:solidFill>
              </a:rPr>
              <a:t>retrain_recommended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89320" y="5303520"/>
            <a:ext cx="5943600" cy="960120"/>
          </a:xfrm>
          <a:prstGeom prst="rect">
            <a:avLst/>
          </a:prstGeom>
          <a:solidFill>
            <a:srgbClr val="FFFFFF"/>
          </a:solidFill>
          <a:ln w="2540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989320" y="5303520"/>
            <a:ext cx="5943600" cy="384048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80760" y="5321808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Decisao OTA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80760" y="5760720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8B4C"/>
                </a:solidFill>
              </a:rPr>
              <a:t>build_and_publish_ota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4320" y="640080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7F8C8D"/>
                </a:solidFill>
              </a:rPr>
              <a:t>OTA so liberado quando candidato novo passa o quality gate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Fluxo OTA Simulado (MLOps)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8D4EA"/>
                </a:solidFill>
              </a:rPr>
              <a:t>Manifesto · Pacote · Assinatura HMAC-SHA256 · Rollback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836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F8C8D"/>
                </a:solidFill>
              </a:rPr>
              <a:t>11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53312"/>
            <a:ext cx="57607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1F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353312"/>
            <a:ext cx="5760720" cy="411480"/>
          </a:xfrm>
          <a:prstGeom prst="rect">
            <a:avLst/>
          </a:prstGeom>
          <a:solidFill>
            <a:srgbClr val="1F6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399032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python -m src.ota.build_ota_manifest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856232"/>
            <a:ext cx="5577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1C1C"/>
                </a:solidFill>
              </a:rPr>
              <a:t>Gera ota_manifest.json a partir
do production_manifest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1353312"/>
            <a:ext cx="57607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353312"/>
            <a:ext cx="5760720" cy="4114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399032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python -m src.ota.build_ota_package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856232"/>
            <a:ext cx="5577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1C1C"/>
                </a:solidFill>
              </a:rPr>
              <a:t>Empacota artifact.tflite
+ calcula SHA-256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651760"/>
            <a:ext cx="57607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2651760"/>
            <a:ext cx="5760720" cy="41148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697479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python -m src.ota.validate_ota_package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154680"/>
            <a:ext cx="5577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1C1C"/>
                </a:solidFill>
              </a:rPr>
              <a:t>Verifica integridade:
SHA-256 + assinatura HMAC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80" y="2651760"/>
            <a:ext cx="57607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5BA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5080" y="2651760"/>
            <a:ext cx="5760720" cy="411480"/>
          </a:xfrm>
          <a:prstGeom prst="rect">
            <a:avLst/>
          </a:prstGeom>
          <a:solidFill>
            <a:srgbClr val="5BA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697479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python -m src.ota.publish_local_release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154680"/>
            <a:ext cx="5577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1C1C"/>
                </a:solidFill>
              </a:rPr>
              <a:t>Cria releases/latest.json
(simula repositorio OTA)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950208"/>
            <a:ext cx="57607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1F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3950208"/>
            <a:ext cx="5760720" cy="411480"/>
          </a:xfrm>
          <a:prstGeom prst="rect">
            <a:avLst/>
          </a:prstGeom>
          <a:solidFill>
            <a:srgbClr val="1F6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3995928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python -m src.ota.simulate_device_update_check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4453128"/>
            <a:ext cx="5577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1C1C"/>
                </a:solidFill>
              </a:rPr>
              <a:t>Dispositivo consulta latest.json
e verifica compatibilidade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5080" y="3950208"/>
            <a:ext cx="57607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3950208"/>
            <a:ext cx="5760720" cy="41148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3995928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python -m src.ota.simulate_apply_update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4453128"/>
            <a:ext cx="5577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1C1C"/>
                </a:solidFill>
              </a:rPr>
              <a:t>Instalacao simulada
com log completo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5248656"/>
            <a:ext cx="57607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4320" y="5248656"/>
            <a:ext cx="5760720" cy="4114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5294376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python -m src.ota.simulate_rollback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5751576"/>
            <a:ext cx="5577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1C1C"/>
                </a:solidFill>
              </a:rPr>
              <a:t>Reversao automatica
em caso de falha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6446520"/>
            <a:ext cx="2788920" cy="347472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" y="6446520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SHA-256 OK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46120" y="6446520"/>
            <a:ext cx="2788920" cy="347472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46120" y="6446520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HMAC OK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0" y="6446520"/>
            <a:ext cx="2788920" cy="34747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17920" y="6446520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Rollback OK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89720" y="6446520"/>
            <a:ext cx="2788920" cy="347472"/>
          </a:xfrm>
          <a:prstGeom prst="rect">
            <a:avLst/>
          </a:prstGeom>
          <a:solidFill>
            <a:srgbClr val="1F6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89720" y="6446520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Versao: seismic_edge_v1_tiny_cnn_20260614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OTA Real no ESP32 via HTTP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8D4EA"/>
                </a:solidFill>
              </a:rPr>
              <a:t>Firmware consulta servidor, baixa modelo, valida e carrega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836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F8C8D"/>
                </a:solidFill>
              </a:rPr>
              <a:t>12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98448"/>
            <a:ext cx="5029200" cy="5257800"/>
          </a:xfrm>
          <a:prstGeom prst="rect">
            <a:avLst/>
          </a:prstGeom>
          <a:solidFill>
            <a:srgbClr val="FFFFFF"/>
          </a:solidFill>
          <a:ln w="25400">
            <a:solidFill>
              <a:srgbClr val="1F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98448"/>
            <a:ext cx="5029200" cy="438912"/>
          </a:xfrm>
          <a:prstGeom prst="rect">
            <a:avLst/>
          </a:prstGeom>
          <a:solidFill>
            <a:srgbClr val="1F6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316736"/>
            <a:ext cx="48463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Servidor FastAPI (:8000)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874519"/>
            <a:ext cx="2103120" cy="685800"/>
          </a:xfrm>
          <a:prstGeom prst="rect">
            <a:avLst/>
          </a:prstGeom>
          <a:solidFill>
            <a:srgbClr val="1F6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1965960"/>
            <a:ext cx="2084831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GET /ota/latest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42032" y="1984248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</a:rPr>
              <a:t>Retorna latest.json com versao e SHA-256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743200"/>
            <a:ext cx="2103120" cy="685800"/>
          </a:xfrm>
          <a:prstGeom prst="rect">
            <a:avLst/>
          </a:prstGeom>
          <a:solidFill>
            <a:srgbClr val="1F6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2834640"/>
            <a:ext cx="2084831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GET /ota/artifact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42032" y="2852928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</a:rPr>
              <a:t>Faz download do .tflite (streaming)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611879"/>
            <a:ext cx="2103120" cy="685800"/>
          </a:xfrm>
          <a:prstGeom prst="rect">
            <a:avLst/>
          </a:prstGeom>
          <a:solidFill>
            <a:srgbClr val="1F6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" y="3703320"/>
            <a:ext cx="2084831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POST /ota/report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42032" y="3721607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</a:rPr>
              <a:t>Recebe resultado: success/failed/skipped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480559"/>
            <a:ext cx="2103120" cy="685800"/>
          </a:xfrm>
          <a:prstGeom prst="rect">
            <a:avLst/>
          </a:prstGeom>
          <a:solidFill>
            <a:srgbClr val="1F6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4571999"/>
            <a:ext cx="2084831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GET /metrics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42032" y="4590288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</a:rPr>
              <a:t>Metricas Prometheus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349240"/>
            <a:ext cx="2103120" cy="685800"/>
          </a:xfrm>
          <a:prstGeom prst="rect">
            <a:avLst/>
          </a:prstGeom>
          <a:solidFill>
            <a:srgbClr val="1F6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5440679"/>
            <a:ext cx="2084831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GET /devices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42032" y="5458968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</a:rPr>
              <a:t>Registry de dispositivos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40680" y="27432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39C12"/>
                </a:solidFill>
              </a:rPr>
              <a:t>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40680" y="36576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39C12"/>
                </a:solidFill>
              </a:rPr>
              <a:t>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45720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39C12"/>
                </a:solidFill>
              </a:rPr>
              <a:t>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49240" y="36576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F8C8D"/>
                </a:solidFill>
              </a:rPr>
              <a:t>HTTP
WiFi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1298448"/>
            <a:ext cx="5486400" cy="5257800"/>
          </a:xfrm>
          <a:prstGeom prst="rect">
            <a:avLst/>
          </a:prstGeom>
          <a:solidFill>
            <a:srgbClr val="FFFFFF"/>
          </a:solidFill>
          <a:ln w="2540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0" y="1298448"/>
            <a:ext cx="5486400" cy="438912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1316736"/>
            <a:ext cx="5303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ESP32 — ota_http.cpp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92240" y="1874519"/>
            <a:ext cx="2286000" cy="548640"/>
          </a:xfrm>
          <a:prstGeom prst="rect">
            <a:avLst/>
          </a:prstGeom>
          <a:solidFill>
            <a:srgbClr val="5BA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10528" y="1947672"/>
            <a:ext cx="22677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SPIFFS.begin()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51392" y="19659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</a:rPr>
              <a:t>Monta filesystem na flash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92240" y="2542032"/>
            <a:ext cx="2286000" cy="548640"/>
          </a:xfrm>
          <a:prstGeom prst="rect">
            <a:avLst/>
          </a:prstGeom>
          <a:solidFill>
            <a:srgbClr val="1F6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10528" y="2615184"/>
            <a:ext cx="22677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wifi_connect()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51392" y="263347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</a:rPr>
              <a:t>Conecta ao AP (15s timeout)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92240" y="3209544"/>
            <a:ext cx="2286000" cy="5486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10528" y="3282696"/>
            <a:ext cx="22677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GET /ota/latest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51392" y="3300984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</a:rPr>
              <a:t>Compara versoes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92240" y="3877056"/>
            <a:ext cx="2286000" cy="5486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10528" y="3950208"/>
            <a:ext cx="22677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GET /ota/artifact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51392" y="3968496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</a:rPr>
              <a:t>Stream → SPIFFS (512B/vez)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92240" y="4544568"/>
            <a:ext cx="2286000" cy="54864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10528" y="4617720"/>
            <a:ext cx="22677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sha256_of_file()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51392" y="4636007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</a:rPr>
              <a:t>mbedtls — valida integridade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92240" y="5212079"/>
            <a:ext cx="2286000" cy="54864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10528" y="5285231"/>
            <a:ext cx="22677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ota_load_into_ram()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51392" y="5303519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</a:rPr>
              <a:t>heap_caps_aligned_alloc(16B)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92240" y="5879592"/>
            <a:ext cx="2286000" cy="5486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10528" y="5952744"/>
            <a:ext cx="22677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tflite::GetModel()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851392" y="5971031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</a:rPr>
              <a:t>Ponteiro SPIFFS ou builtin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4320" y="662940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7F8C8D"/>
                </a:solidFill>
              </a:rPr>
              <a:t>Fallback: se WiFi falhar ou SHA-256 divergir → usa modelo compilado no header (.h)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Mapa de Memoria — ESP32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8D4EA"/>
                </a:solidFill>
              </a:rPr>
              <a:t>Flash e RAM com firmware TFLite Micro + OTA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836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F8C8D"/>
                </a:solidFill>
              </a:rPr>
              <a:t>13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98448"/>
            <a:ext cx="5303520" cy="5303520"/>
          </a:xfrm>
          <a:prstGeom prst="rect">
            <a:avLst/>
          </a:prstGeom>
          <a:solidFill>
            <a:srgbClr val="FFFFFF"/>
          </a:solidFill>
          <a:ln w="25400">
            <a:solidFill>
              <a:srgbClr val="1F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98448"/>
            <a:ext cx="5303520" cy="438912"/>
          </a:xfrm>
          <a:prstGeom prst="rect">
            <a:avLst/>
          </a:prstGeom>
          <a:solidFill>
            <a:srgbClr val="1F6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316736"/>
            <a:ext cx="51206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FLASH — 4 MB (huge_app.csv)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874519"/>
            <a:ext cx="5029200" cy="16824960"/>
          </a:xfrm>
          <a:prstGeom prst="rect">
            <a:avLst/>
          </a:prstGeom>
          <a:solidFill>
            <a:srgbClr val="7F8C8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920239"/>
            <a:ext cx="2926080" cy="16733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1C1C"/>
                </a:solidFill>
              </a:rPr>
              <a:t>Bootloader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1920239"/>
            <a:ext cx="1828800" cy="16733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1C1C1C"/>
                </a:solidFill>
              </a:rPr>
              <a:t>8 KB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8699480"/>
            <a:ext cx="5029200" cy="504748"/>
          </a:xfrm>
          <a:prstGeom prst="rect">
            <a:avLst/>
          </a:prstGeom>
          <a:solidFill>
            <a:srgbClr val="7F8C8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8745200"/>
            <a:ext cx="2926080" cy="41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1C1C"/>
                </a:solidFill>
              </a:rPr>
              <a:t>NVS (WiFi config)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18745200"/>
            <a:ext cx="1828800" cy="41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1C1C1C"/>
                </a:solidFill>
              </a:rPr>
              <a:t>20 KB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19204228"/>
            <a:ext cx="5029200" cy="384048"/>
          </a:xfrm>
          <a:prstGeom prst="rect">
            <a:avLst/>
          </a:prstGeom>
          <a:solidFill>
            <a:srgbClr val="7F8C8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9249948"/>
            <a:ext cx="292608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1C1C"/>
                </a:solidFill>
              </a:rPr>
              <a:t>OTA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19249948"/>
            <a:ext cx="18288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1C1C1C"/>
                </a:solidFill>
              </a:rPr>
              <a:t>8 KB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19588276"/>
            <a:ext cx="5029200" cy="1892807"/>
          </a:xfrm>
          <a:prstGeom prst="rect">
            <a:avLst/>
          </a:prstGeom>
          <a:solidFill>
            <a:srgbClr val="1F6FA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19633996"/>
            <a:ext cx="2926080" cy="1801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app0 — Firmware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19633996"/>
            <a:ext cx="1828800" cy="1801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</a:rPr>
              <a:t>3 MB  (usado: 638 KB → 20.3%)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1481084"/>
            <a:ext cx="5029200" cy="841247"/>
          </a:xfrm>
          <a:prstGeom prst="rect">
            <a:avLst/>
          </a:prstGeom>
          <a:solidFill>
            <a:srgbClr val="5BA3D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21526804"/>
            <a:ext cx="29260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SPIFFS — dados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21526804"/>
            <a:ext cx="1828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</a:rPr>
              <a:t>960 KB  (ota_model.tflite: 66 KB)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1298448"/>
            <a:ext cx="5760720" cy="5303520"/>
          </a:xfrm>
          <a:prstGeom prst="rect">
            <a:avLst/>
          </a:prstGeom>
          <a:solidFill>
            <a:srgbClr val="FFFFFF"/>
          </a:solidFill>
          <a:ln w="2540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26480" y="1298448"/>
            <a:ext cx="5760720" cy="438912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1316736"/>
            <a:ext cx="55778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RAM — 320 KB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1874519"/>
            <a:ext cx="5577840" cy="672998"/>
          </a:xfrm>
          <a:prstGeom prst="rect">
            <a:avLst/>
          </a:prstGeom>
          <a:solidFill>
            <a:srgbClr val="7F8C8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1920239"/>
            <a:ext cx="3474720" cy="5815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1C1C"/>
                </a:solidFill>
              </a:rPr>
              <a:t>Sistema + Arduino + codigo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0" y="1920239"/>
            <a:ext cx="1920240" cy="5815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1C1C1C"/>
                </a:solidFill>
              </a:rPr>
              <a:t>~50 KB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2547518"/>
            <a:ext cx="5577840" cy="1303934"/>
          </a:xfrm>
          <a:prstGeom prst="rect">
            <a:avLst/>
          </a:prstGeom>
          <a:solidFill>
            <a:srgbClr val="1F6FA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2593238"/>
            <a:ext cx="3474720" cy="1212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tensor_arena (TFLite)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2593238"/>
            <a:ext cx="1920240" cy="1212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</a:rPr>
              <a:t>100 KB  (alocado pelo fw)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3851452"/>
            <a:ext cx="5577840" cy="883310"/>
          </a:xfrm>
          <a:prstGeom prst="rect">
            <a:avLst/>
          </a:prstGeom>
          <a:solidFill>
            <a:srgbClr val="5BA3D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0" y="3897172"/>
            <a:ext cx="3474720" cy="791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s_model_buf (modelo OTA)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92640" y="3897172"/>
            <a:ext cx="1920240" cy="791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</a:rPr>
              <a:t>66 KB  (heap_caps 16B)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4734763"/>
            <a:ext cx="5577840" cy="1345996"/>
          </a:xfrm>
          <a:prstGeom prst="rect">
            <a:avLst/>
          </a:prstGeom>
          <a:solidFill>
            <a:srgbClr val="D4EFD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0" y="4780483"/>
            <a:ext cx="3474720" cy="1254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1C1C"/>
                </a:solidFill>
              </a:rPr>
              <a:t>Disponivel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92640" y="4780483"/>
            <a:ext cx="1920240" cy="1254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1C1C1C"/>
                </a:solidFill>
              </a:rPr>
              <a:t>~104 KB  livres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" y="667512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1F6FAB"/>
                </a:solidFill>
              </a:rPr>
              <a:t>RAM total usada (firmware + OTA): ~216 KB / 320 KB = 67.5%  ·  Flash: 638 KB / 3072 KB = 20.3%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Validacao no Hardware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8D4EA"/>
                </a:solidFill>
              </a:rPr>
              <a:t>ESP32-D0WD-V3 · TFLite Micro · Inferencia embarcada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836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F8C8D"/>
                </a:solidFill>
              </a:rPr>
              <a:t>14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98448"/>
            <a:ext cx="7132320" cy="5303520"/>
          </a:xfrm>
          <a:prstGeom prst="rect">
            <a:avLst/>
          </a:prstGeom>
          <a:solidFill>
            <a:srgbClr val="FFFFFF"/>
          </a:solidFill>
          <a:ln w="2540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98448"/>
            <a:ext cx="7132320" cy="438912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316736"/>
            <a:ext cx="69494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Status de Validacao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874519"/>
            <a:ext cx="548640" cy="50292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920239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947672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C"/>
                </a:solidFill>
              </a:rPr>
              <a:t>ESP32 detectado no WSL via /dev/ttyUSB0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468879"/>
            <a:ext cx="548640" cy="50292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514599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542032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C"/>
                </a:solidFill>
              </a:rPr>
              <a:t>Chip identificado: ESP32-D0WD-V3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063239"/>
            <a:ext cx="548640" cy="50292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108959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136391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C"/>
                </a:solidFill>
              </a:rPr>
              <a:t>Firmware compilado: RAM 31% / Flash 20%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657600"/>
            <a:ext cx="548640" cy="50292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703320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730752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C"/>
                </a:solidFill>
              </a:rPr>
              <a:t>Upload via esptool bem-sucedido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251960"/>
            <a:ext cx="548640" cy="50292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4297680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325112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C"/>
                </a:solidFill>
              </a:rPr>
              <a:t>Modelo float32 carregado e invocado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846320"/>
            <a:ext cx="548640" cy="50292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4892040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OK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919472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C"/>
                </a:solidFill>
              </a:rPr>
              <a:t>Saida CSV no serial (score, latencia, CPU%)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5440680"/>
            <a:ext cx="548640" cy="50292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5486400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OK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5513832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C"/>
                </a:solidFill>
              </a:rPr>
              <a:t>OTA HTTP: download + SHA-256 + SPIFFS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6035040"/>
            <a:ext cx="548640" cy="5029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6080759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6108192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C"/>
                </a:solidFill>
              </a:rPr>
              <a:t>Inferencia int8: REDUCE_MAX (correcao planejada)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680960" y="1298448"/>
            <a:ext cx="4480560" cy="53035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680960" y="1298448"/>
            <a:ext cx="4480560" cy="438912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0" y="1316736"/>
            <a:ext cx="42976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CF0F1"/>
                </a:solidFill>
              </a:rPr>
              <a:t>Saida Serial (monitor)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1874519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CF0F1"/>
                </a:solidFill>
              </a:rPr>
              <a:t>[WiFi] IP: 192.168.1.107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2267712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8B4C"/>
                </a:solidFill>
              </a:rPr>
              <a:t>[OTA] Nova versao disponivel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0" y="2660903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8B4C"/>
                </a:solidFill>
              </a:rPr>
              <a:t>[OTA] Baixados: 67768 bytes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3054096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8B4C"/>
                </a:solidFill>
              </a:rPr>
              <a:t>[OTA] SHA-256 OK.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0" y="3447287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BA3D0"/>
                </a:solidFill>
              </a:rPr>
              <a:t>Modelo: PIPELINE_TINY_CNN_FLOAT32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0" y="3840479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39C12"/>
                </a:solidFill>
              </a:rPr>
              <a:t>Threshold: 0.72419429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0" y="4233672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CF0F1"/>
                </a:solidFill>
              </a:rPr>
              <a:t>run,score,pred,correct,...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0" y="4626864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CF0F1"/>
                </a:solidFill>
              </a:rPr>
              <a:t>0,0.8234,1,1,...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0" y="5020056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CF0F1"/>
                </a:solidFill>
              </a:rPr>
              <a:t>1,0.1023,0,1,...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0" y="5413248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39C12"/>
                </a:solidFill>
              </a:rPr>
              <a:t># summary,inference_ms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0" y="580644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CF0F1"/>
                </a:solidFill>
              </a:rPr>
              <a:t># avg: 8.43 ms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0" y="6199631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39C12"/>
                </a:solidFill>
              </a:rPr>
              <a:t># summary,accuracy,0.85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Resultados Finais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8D4EA"/>
                </a:solidFill>
              </a:rPr>
              <a:t>Tiny CNN — 15.377 parametros — dataset sismico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836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F8C8D"/>
                </a:solidFill>
              </a:rPr>
              <a:t>15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98448"/>
            <a:ext cx="2788920" cy="1920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98448"/>
            <a:ext cx="2788920" cy="438912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316736"/>
            <a:ext cx="26517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AUC-PR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810512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E8B4C"/>
                </a:solidFill>
              </a:rPr>
              <a:t>0.8775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6974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F8C8D"/>
                </a:solidFill>
              </a:rPr>
              <a:t>conjunto de teste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1298448"/>
            <a:ext cx="2788920" cy="1920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46120" y="1298448"/>
            <a:ext cx="2788920" cy="438912"/>
          </a:xfrm>
          <a:prstGeom prst="rect">
            <a:avLst/>
          </a:prstGeom>
          <a:solidFill>
            <a:srgbClr val="1F6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1316736"/>
            <a:ext cx="26517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AUC-ROC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1810512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F6FAB"/>
                </a:solidFill>
              </a:rPr>
              <a:t>0.9576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26974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F8C8D"/>
                </a:solidFill>
              </a:rPr>
              <a:t>conjunto de teste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298448"/>
            <a:ext cx="2788920" cy="1920240"/>
          </a:xfrm>
          <a:prstGeom prst="rect">
            <a:avLst/>
          </a:prstGeom>
          <a:solidFill>
            <a:srgbClr val="FFFFFF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298448"/>
            <a:ext cx="2788920" cy="43891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59" y="1316736"/>
            <a:ext cx="26517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59" y="1810512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39C12"/>
                </a:solidFill>
              </a:rPr>
              <a:t>0.8109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59" y="26974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F8C8D"/>
                </a:solidFill>
              </a:rPr>
              <a:t>conjunto de teste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89720" y="1298448"/>
            <a:ext cx="2788920" cy="1920240"/>
          </a:xfrm>
          <a:prstGeom prst="rect">
            <a:avLst/>
          </a:prstGeom>
          <a:solidFill>
            <a:srgbClr val="FFFFFF"/>
          </a:solidFill>
          <a:ln w="25400">
            <a:solidFill>
              <a:srgbClr val="5BA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89720" y="1298448"/>
            <a:ext cx="2788920" cy="438912"/>
          </a:xfrm>
          <a:prstGeom prst="rect">
            <a:avLst/>
          </a:prstGeom>
          <a:solidFill>
            <a:srgbClr val="5BA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81160" y="1316736"/>
            <a:ext cx="26517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FP/h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1810512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5BA3D0"/>
                </a:solidFill>
              </a:rPr>
              <a:t>6.75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26974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F8C8D"/>
                </a:solidFill>
              </a:rPr>
              <a:t>conjunto de teste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401568"/>
            <a:ext cx="54864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34290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6FAB"/>
                </a:solidFill>
              </a:rPr>
              <a:t>Validacao vs Teste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3840480"/>
            <a:ext cx="2258568" cy="475488"/>
          </a:xfrm>
          <a:prstGeom prst="rect">
            <a:avLst/>
          </a:prstGeom>
          <a:solidFill>
            <a:srgbClr val="1A375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3895344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Metrica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560320" y="3840480"/>
            <a:ext cx="1527048" cy="475488"/>
          </a:xfrm>
          <a:prstGeom prst="rect">
            <a:avLst/>
          </a:prstGeom>
          <a:solidFill>
            <a:srgbClr val="1A375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06039" y="3895344"/>
            <a:ext cx="1463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Validacao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0" y="3840480"/>
            <a:ext cx="1618488" cy="475488"/>
          </a:xfrm>
          <a:prstGeom prst="rect">
            <a:avLst/>
          </a:prstGeom>
          <a:solidFill>
            <a:srgbClr val="1A375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60520" y="3895344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Teste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4224528"/>
            <a:ext cx="225856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4279392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1C1C"/>
                </a:solidFill>
              </a:rPr>
              <a:t>AUC-PR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560320" y="4224528"/>
            <a:ext cx="152704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06039" y="4279392"/>
            <a:ext cx="1463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C1C1C"/>
                </a:solidFill>
              </a:rPr>
              <a:t>0.8598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0" y="4224528"/>
            <a:ext cx="161848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60520" y="4279392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C1C1C"/>
                </a:solidFill>
              </a:rPr>
              <a:t>0.8775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4608576"/>
            <a:ext cx="2258568" cy="475488"/>
          </a:xfrm>
          <a:prstGeom prst="rect">
            <a:avLst/>
          </a:prstGeom>
          <a:solidFill>
            <a:srgbClr val="D4EFD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466344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1C1C"/>
                </a:solidFill>
              </a:rPr>
              <a:t>AUC-ROC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560320" y="4608576"/>
            <a:ext cx="1527048" cy="475488"/>
          </a:xfrm>
          <a:prstGeom prst="rect">
            <a:avLst/>
          </a:prstGeom>
          <a:solidFill>
            <a:srgbClr val="D4EFD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606039" y="4663440"/>
            <a:ext cx="1463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C1C1C"/>
                </a:solidFill>
              </a:rPr>
              <a:t>0.9546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14800" y="4608576"/>
            <a:ext cx="1618488" cy="475488"/>
          </a:xfrm>
          <a:prstGeom prst="rect">
            <a:avLst/>
          </a:prstGeom>
          <a:solidFill>
            <a:srgbClr val="D4EFD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60520" y="466344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C1C1C"/>
                </a:solidFill>
              </a:rPr>
              <a:t>0.9576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4992624"/>
            <a:ext cx="225856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0040" y="5047488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1C1C"/>
                </a:solidFill>
              </a:rPr>
              <a:t>F1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560320" y="4992624"/>
            <a:ext cx="152704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606039" y="5047488"/>
            <a:ext cx="1463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C1C1C"/>
                </a:solidFill>
              </a:rPr>
              <a:t>0.7908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14800" y="4992624"/>
            <a:ext cx="161848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60520" y="5047488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C1C1C"/>
                </a:solidFill>
              </a:rPr>
              <a:t>0.8109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5376672"/>
            <a:ext cx="2258568" cy="475488"/>
          </a:xfrm>
          <a:prstGeom prst="rect">
            <a:avLst/>
          </a:prstGeom>
          <a:solidFill>
            <a:srgbClr val="D4EFD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0040" y="5431536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1C1C"/>
                </a:solidFill>
              </a:rPr>
              <a:t>Precision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560320" y="5376672"/>
            <a:ext cx="1527048" cy="475488"/>
          </a:xfrm>
          <a:prstGeom prst="rect">
            <a:avLst/>
          </a:prstGeom>
          <a:solidFill>
            <a:srgbClr val="D4EFD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606039" y="5431536"/>
            <a:ext cx="1463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C1C1C"/>
                </a:solidFill>
              </a:rPr>
              <a:t>0.8343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114800" y="5376672"/>
            <a:ext cx="1618488" cy="475488"/>
          </a:xfrm>
          <a:prstGeom prst="rect">
            <a:avLst/>
          </a:prstGeom>
          <a:solidFill>
            <a:srgbClr val="D4EFD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160520" y="5431536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C1C1C"/>
                </a:solidFill>
              </a:rPr>
              <a:t>0.8431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4320" y="5760720"/>
            <a:ext cx="225856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20040" y="5815584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1C1C"/>
                </a:solidFill>
              </a:rPr>
              <a:t>Recall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560320" y="5760720"/>
            <a:ext cx="152704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606039" y="5815584"/>
            <a:ext cx="1463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C1C1C"/>
                </a:solidFill>
              </a:rPr>
              <a:t>0.7517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114800" y="5760720"/>
            <a:ext cx="161848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160520" y="5815584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C1C1C"/>
                </a:solidFill>
              </a:rPr>
              <a:t>0.7810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080760" y="3401568"/>
            <a:ext cx="58064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172200" y="3429000"/>
            <a:ext cx="5623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6FAB"/>
                </a:solidFill>
              </a:rPr>
              <a:t>Confusion Matrix (teste)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172200" y="3886200"/>
            <a:ext cx="1719072" cy="685800"/>
          </a:xfrm>
          <a:prstGeom prst="rect">
            <a:avLst/>
          </a:prstGeom>
          <a:solidFill>
            <a:srgbClr val="1C1C1C"/>
          </a:solidFill>
          <a:ln w="635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217920" y="3977639"/>
            <a:ext cx="16276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C1C1C"/>
                </a:solidFill>
              </a:rPr>
              <a:t/>
            </a:r>
          </a:p>
        </p:txBody>
      </p:sp>
      <p:sp>
        <p:nvSpPr>
          <p:cNvPr id="69" name="Rectangle 68"/>
          <p:cNvSpPr/>
          <p:nvPr/>
        </p:nvSpPr>
        <p:spPr>
          <a:xfrm>
            <a:off x="7955279" y="3886200"/>
            <a:ext cx="1719072" cy="685800"/>
          </a:xfrm>
          <a:prstGeom prst="rect">
            <a:avLst/>
          </a:prstGeom>
          <a:solidFill>
            <a:srgbClr val="7F8C8D"/>
          </a:solidFill>
          <a:ln w="635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001000" y="3977639"/>
            <a:ext cx="16276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C1C1C"/>
                </a:solidFill>
              </a:rPr>
              <a:t>Pred 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738360" y="3886200"/>
            <a:ext cx="1719072" cy="685800"/>
          </a:xfrm>
          <a:prstGeom prst="rect">
            <a:avLst/>
          </a:prstGeom>
          <a:solidFill>
            <a:srgbClr val="7F8C8D"/>
          </a:solidFill>
          <a:ln w="635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784080" y="3977639"/>
            <a:ext cx="16276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C1C1C"/>
                </a:solidFill>
              </a:rPr>
              <a:t>Pred 1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172200" y="4617720"/>
            <a:ext cx="1719072" cy="685800"/>
          </a:xfrm>
          <a:prstGeom prst="rect">
            <a:avLst/>
          </a:prstGeom>
          <a:solidFill>
            <a:srgbClr val="7F8C8D"/>
          </a:solidFill>
          <a:ln w="635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217920" y="4709159"/>
            <a:ext cx="16276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C1C1C"/>
                </a:solidFill>
              </a:rPr>
              <a:t>Real 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955279" y="4617720"/>
            <a:ext cx="1719072" cy="685800"/>
          </a:xfrm>
          <a:prstGeom prst="rect">
            <a:avLst/>
          </a:prstGeom>
          <a:solidFill>
            <a:srgbClr val="D4EFDF"/>
          </a:solidFill>
          <a:ln w="635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001000" y="4709159"/>
            <a:ext cx="16276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8B4C"/>
                </a:solidFill>
              </a:rPr>
              <a:t>TN: 22.016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738360" y="4617720"/>
            <a:ext cx="1719072" cy="685800"/>
          </a:xfrm>
          <a:prstGeom prst="rect">
            <a:avLst/>
          </a:prstGeom>
          <a:solidFill>
            <a:srgbClr val="F9EBEA"/>
          </a:solidFill>
          <a:ln w="635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784080" y="4709159"/>
            <a:ext cx="16276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392B"/>
                </a:solidFill>
              </a:rPr>
              <a:t>FP: 484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172200" y="5349240"/>
            <a:ext cx="1719072" cy="685800"/>
          </a:xfrm>
          <a:prstGeom prst="rect">
            <a:avLst/>
          </a:prstGeom>
          <a:solidFill>
            <a:srgbClr val="7F8C8D"/>
          </a:solidFill>
          <a:ln w="635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217920" y="5440679"/>
            <a:ext cx="16276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C1C1C"/>
                </a:solidFill>
              </a:rPr>
              <a:t>Real 1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955279" y="5349240"/>
            <a:ext cx="1719072" cy="685800"/>
          </a:xfrm>
          <a:prstGeom prst="rect">
            <a:avLst/>
          </a:prstGeom>
          <a:solidFill>
            <a:srgbClr val="F9EBEA"/>
          </a:solidFill>
          <a:ln w="635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001000" y="5440679"/>
            <a:ext cx="16276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392B"/>
                </a:solidFill>
              </a:rPr>
              <a:t>FN: 729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738360" y="5349240"/>
            <a:ext cx="1719072" cy="685800"/>
          </a:xfrm>
          <a:prstGeom prst="rect">
            <a:avLst/>
          </a:prstGeom>
          <a:solidFill>
            <a:srgbClr val="D4EFDF"/>
          </a:solidFill>
          <a:ln w="635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784080" y="5440679"/>
            <a:ext cx="16276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8B4C"/>
                </a:solidFill>
              </a:rPr>
              <a:t>TP: 2.600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74320" y="640080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7F8C8D"/>
                </a:solidFill>
              </a:rPr>
              <a:t>Threshold 0.724 escolhido no val · aplicado diretamente no teste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Proxima Direcao: Series Temporais Multivariadas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8D4EA"/>
                </a:solidFill>
              </a:rPr>
              <a:t>Nova branch em desenvolvimento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836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F8C8D"/>
                </a:solidFill>
              </a:rPr>
              <a:t>16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98448"/>
            <a:ext cx="5486400" cy="5303520"/>
          </a:xfrm>
          <a:prstGeom prst="rect">
            <a:avLst/>
          </a:prstGeom>
          <a:solidFill>
            <a:srgbClr val="FFFFFF"/>
          </a:solidFill>
          <a:ln w="25400">
            <a:solidFill>
              <a:srgbClr val="1F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98448"/>
            <a:ext cx="5486400" cy="438912"/>
          </a:xfrm>
          <a:prstGeom prst="rect">
            <a:avLst/>
          </a:prstGeom>
          <a:solidFill>
            <a:srgbClr val="1F6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316736"/>
            <a:ext cx="5303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Atual — Univariado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892807"/>
            <a:ext cx="2103120" cy="621792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" y="1975103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Dataset shape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42032" y="2002536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1C1C"/>
                </a:solidFill>
              </a:rPr>
              <a:t>X.shape = (n, 800)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642615"/>
            <a:ext cx="2103120" cy="621792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" y="2724911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Canais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42032" y="2752344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1C1C"/>
                </a:solidFill>
              </a:rPr>
              <a:t>1 canal (ex: aceleracao Z)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392424"/>
            <a:ext cx="2103120" cy="621792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3192" y="3474720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Preprocessamento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42032" y="3502152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1C1C"/>
                </a:solidFill>
              </a:rPr>
              <a:t>zscore global por janela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142231"/>
            <a:ext cx="2103120" cy="621792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3192" y="4224527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Modelo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42032" y="4251959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1C1C"/>
                </a:solidFill>
              </a:rPr>
              <a:t>Conv1D 1D simples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892040"/>
            <a:ext cx="2103120" cy="621792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3192" y="4974336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Tensor input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42032" y="500176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1C1C"/>
                </a:solidFill>
              </a:rPr>
              <a:t>shape = (800, 1)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641848"/>
            <a:ext cx="2103120" cy="621792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3192" y="5724144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RAM modelo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42032" y="5751576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1C1C"/>
                </a:solidFill>
              </a:rPr>
              <a:t>66 KB (float32)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1298448"/>
            <a:ext cx="5760720" cy="5303520"/>
          </a:xfrm>
          <a:prstGeom prst="rect">
            <a:avLst/>
          </a:prstGeom>
          <a:solidFill>
            <a:srgbClr val="FFFFFF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26480" y="1298448"/>
            <a:ext cx="5760720" cy="43891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1316736"/>
            <a:ext cx="55778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Novo — Multivariado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1892807"/>
            <a:ext cx="2103120" cy="62179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45352" y="1975103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Dataset shape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94192" y="2002536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1C1C"/>
                </a:solidFill>
              </a:rPr>
              <a:t>X.shape = (n, 800, C)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2642615"/>
            <a:ext cx="2103120" cy="62179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45352" y="2724911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Canais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94192" y="2752344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1C1C"/>
                </a:solidFill>
              </a:rPr>
              <a:t>C canais (X, Y, Z acelerometro...)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3392424"/>
            <a:ext cx="2103120" cy="62179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45352" y="3474720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Preprocessamento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94192" y="350215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1C1C"/>
                </a:solidFill>
              </a:rPr>
              <a:t>zscore por canal ou global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4142231"/>
            <a:ext cx="2103120" cy="62179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45352" y="4224527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Modelo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94192" y="4251959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1C1C"/>
                </a:solidFill>
              </a:rPr>
              <a:t>Conv2D ou TCN multicanal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17920" y="4892040"/>
            <a:ext cx="2103120" cy="62179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45352" y="4974336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Tensor input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94192" y="500176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1C1C"/>
                </a:solidFill>
              </a:rPr>
              <a:t>shape = (800, C)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17920" y="5641848"/>
            <a:ext cx="2103120" cy="62179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45352" y="5724144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RAM modelo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94192" y="5751576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1C1C"/>
                </a:solidFill>
              </a:rPr>
              <a:t>maior — validar ESP32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1F6FAB"/>
                </a:solidFill>
              </a:rPr>
              <a:t>Pipeline generico foi projetado para esta extensao — adapter de dominio isola a diferenca de contrato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Proximos Passos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8D4EA"/>
                </a:solidFill>
              </a:rPr>
              <a:t>Prioridades tecnicas e evolucao do sistema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836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F8C8D"/>
                </a:solidFill>
              </a:rPr>
              <a:t>17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53312"/>
            <a:ext cx="5760720" cy="1170432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353312"/>
            <a:ext cx="5760720" cy="4114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408176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Correcao int8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856232"/>
            <a:ext cx="5577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</a:rPr>
              <a:t>Retreinar com head_pooling=avg (ja configurado no YAML) e reexportar.
Tensor arena int8 cabe em 100 KB — 3x menos que float32.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1353312"/>
            <a:ext cx="5760720" cy="1170432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353312"/>
            <a:ext cx="5760720" cy="4114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408176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Validacao int8 real no ESP32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856232"/>
            <a:ext cx="5577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</a:rPr>
              <a:t>Confirmar inferencia int8 no hardware apos correcao.
Medir latencia e comparar com float32.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651760"/>
            <a:ext cx="5760720" cy="1170432"/>
          </a:xfrm>
          <a:prstGeom prst="rect">
            <a:avLst/>
          </a:prstGeom>
          <a:solidFill>
            <a:srgbClr val="FFFFFF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2651760"/>
            <a:ext cx="5760720" cy="4114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706624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Reset automatico pos-OTA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154680"/>
            <a:ext cx="5577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</a:rPr>
              <a:t>Chamar ESP.restart() apos OTA bem-sucedida.
Garante ambiente de execucao limpo.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80" y="2651760"/>
            <a:ext cx="5760720" cy="1170432"/>
          </a:xfrm>
          <a:prstGeom prst="rect">
            <a:avLst/>
          </a:prstGeom>
          <a:solidFill>
            <a:srgbClr val="FFFFFF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5080" y="2651760"/>
            <a:ext cx="5760720" cy="4114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706624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Series Temporais Multivariadas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154680"/>
            <a:ext cx="5577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</a:rPr>
              <a:t>Expandir pipeline para multiplos canais (branch em desenvolvimento).
Adapter de dominio ja isola a diferenca de contrato.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950208"/>
            <a:ext cx="5760720" cy="1170432"/>
          </a:xfrm>
          <a:prstGeom prst="rect">
            <a:avLst/>
          </a:prstGeom>
          <a:solidFill>
            <a:srgbClr val="FFFFFF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3950208"/>
            <a:ext cx="5760720" cy="4114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4005072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Rollback automatico de firmware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4453128"/>
            <a:ext cx="5577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</a:rPr>
              <a:t>Se AllocateTensors() falhar com modelo OTA,
deletar SPIFFS e reverter para builtin automaticamente.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5080" y="3950208"/>
            <a:ext cx="5760720" cy="1170432"/>
          </a:xfrm>
          <a:prstGeom prst="rect">
            <a:avLst/>
          </a:prstGeom>
          <a:solidFill>
            <a:srgbClr val="FFFFFF"/>
          </a:solidFill>
          <a:ln w="25400">
            <a:solidFill>
              <a:srgbClr val="5BA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3950208"/>
            <a:ext cx="5760720" cy="411480"/>
          </a:xfrm>
          <a:prstGeom prst="rect">
            <a:avLst/>
          </a:prstGeom>
          <a:solidFill>
            <a:srgbClr val="5BA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4005072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Assinatura RSA/ECDSA no firmware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4453128"/>
            <a:ext cx="5577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</a:rPr>
              <a:t>Substituir HMAC-SHA256 por criptografia assimetrica.
Chave publica no dispositivo — sem segredo compartilhado.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5080" y="5248656"/>
            <a:ext cx="5760720" cy="1170432"/>
          </a:xfrm>
          <a:prstGeom prst="rect">
            <a:avLst/>
          </a:prstGeom>
          <a:solidFill>
            <a:srgbClr val="FFFFFF"/>
          </a:solidFill>
          <a:ln w="254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55080" y="5248656"/>
            <a:ext cx="5760720" cy="41148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530352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Artigo de sistema TinyML/MLOps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5751576"/>
            <a:ext cx="5577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</a:rPr>
              <a:t>Documentar pipeline, resultados e comparativo de modelos em publicacao cientifica.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7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6072" cy="685800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5074920"/>
            <a:ext cx="12006072" cy="1783080"/>
          </a:xfrm>
          <a:prstGeom prst="rect">
            <a:avLst/>
          </a:prstGeom>
          <a:solidFill>
            <a:srgbClr val="1F6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Conclusao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68680"/>
            <a:ext cx="6400800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457200" cy="54864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52144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0972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Pipeline MLOps completo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371600"/>
            <a:ext cx="10241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C8E8"/>
                </a:solidFill>
              </a:rPr>
              <a:t>Do dado bruto ao dispositivo — rastreavel, automatizado e reproduzivel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28800"/>
            <a:ext cx="457200" cy="54864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901952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1847088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Modelo tiny_cnn aprovado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121408"/>
            <a:ext cx="10241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C8E8"/>
                </a:solidFill>
              </a:rPr>
              <a:t>AUC-PR 0.877 · F1 0.811 · FP/h 6.75 · quality gate aprovado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578608"/>
            <a:ext cx="457200" cy="54864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651760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2596896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Validacao fisica real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871215"/>
            <a:ext cx="10241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C8E8"/>
                </a:solidFill>
              </a:rPr>
              <a:t>Build, flash e inferencia float32 no ESP32-D0WD-V3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328415"/>
            <a:ext cx="457200" cy="54864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401568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346703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OTA via HTTP implementado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3621023"/>
            <a:ext cx="10241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C8E8"/>
                </a:solidFill>
              </a:rPr>
              <a:t>WiFi + download streaming + SHA-256 + SPIFFS + fallback builtin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078224"/>
            <a:ext cx="457200" cy="54864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151376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096511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Drift detection integrado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370832"/>
            <a:ext cx="10241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C8E8"/>
                </a:solidFill>
              </a:rPr>
              <a:t>PSI 0.346, KS p&lt;0.001 → retrain → OTA → ciclo fechado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25780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Proximo: series temporais multivariadas  ·  int8 corrigido  ·  OTA completo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71500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0B8D8"/>
                </a:solidFill>
              </a:rPr>
              <a:t>github.com/alvarosamp/TCC  ·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